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80" r:id="rId7"/>
    <p:sldId id="269" r:id="rId8"/>
    <p:sldId id="271" r:id="rId9"/>
    <p:sldId id="272" r:id="rId10"/>
    <p:sldId id="274" r:id="rId11"/>
    <p:sldId id="273" r:id="rId12"/>
    <p:sldId id="270" r:id="rId13"/>
    <p:sldId id="261" r:id="rId14"/>
    <p:sldId id="279" r:id="rId15"/>
    <p:sldId id="275" r:id="rId16"/>
    <p:sldId id="262" r:id="rId17"/>
    <p:sldId id="264" r:id="rId18"/>
    <p:sldId id="265" r:id="rId19"/>
    <p:sldId id="277" r:id="rId20"/>
    <p:sldId id="263" r:id="rId21"/>
    <p:sldId id="278" r:id="rId22"/>
    <p:sldId id="268" r:id="rId23"/>
  </p:sldIdLst>
  <p:sldSz cx="12192000" cy="6858000"/>
  <p:notesSz cx="6858000" cy="9144000"/>
  <p:embeddedFontLst>
    <p:embeddedFont>
      <p:font typeface="Inter" panose="020B0604020202020204" charset="0"/>
      <p:regular r:id="rId25"/>
      <p:bold r:id="rId26"/>
      <p:italic r:id="rId27"/>
      <p:boldItalic r:id="rId28"/>
    </p:embeddedFont>
    <p:embeddedFont>
      <p:font typeface="Inter Medium" panose="020B0604020202020204" charset="0"/>
      <p:regular r:id="rId29"/>
      <p:bold r:id="rId30"/>
      <p:italic r:id="rId31"/>
      <p:boldItalic r:id="rId32"/>
    </p:embeddedFont>
    <p:embeddedFont>
      <p:font typeface="JetBrains Mono" panose="020B0604020202020204" charset="0"/>
      <p:regular r:id="rId33"/>
      <p:bold r:id="rId34"/>
      <p:italic r:id="rId35"/>
      <p:boldItalic r:id="rId36"/>
    </p:embeddedFont>
    <p:embeddedFont>
      <p:font typeface="Outfit" panose="020B0604020202020204" charset="0"/>
      <p:regular r:id="rId37"/>
      <p:bold r:id="rId38"/>
    </p:embeddedFont>
    <p:embeddedFont>
      <p:font typeface="Outfit Light" panose="020B0604020202020204" charset="0"/>
      <p:regular r:id="rId39"/>
      <p:bold r:id="rId40"/>
    </p:embeddedFont>
    <p:embeddedFont>
      <p:font typeface="Outfit SemiBold" panose="020B0604020202020204" charset="0"/>
      <p:regular r:id="rId41"/>
      <p:bold r:id="rId42"/>
    </p:embeddedFont>
    <p:embeddedFont>
      <p:font typeface="Urbanist" panose="020B0604020202020204" charset="0"/>
      <p:regular r:id="rId43"/>
      <p:bold r:id="rId44"/>
      <p:italic r:id="rId45"/>
      <p:boldItalic r:id="rId46"/>
    </p:embeddedFont>
    <p:embeddedFont>
      <p:font typeface="Urbanist Medium" panose="020B0604020202020204" charset="0"/>
      <p:regular r:id="rId47"/>
      <p:bold r:id="rId48"/>
      <p:italic r:id="rId49"/>
      <p:boldItalic r:id="rId5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Seção Padrão" id="{9ED058E5-AC5A-49E1-BEED-055A7B15797B}">
          <p14:sldIdLst>
            <p14:sldId id="256"/>
            <p14:sldId id="257"/>
            <p14:sldId id="258"/>
            <p14:sldId id="259"/>
            <p14:sldId id="260"/>
            <p14:sldId id="280"/>
            <p14:sldId id="269"/>
            <p14:sldId id="271"/>
            <p14:sldId id="272"/>
            <p14:sldId id="274"/>
            <p14:sldId id="273"/>
            <p14:sldId id="270"/>
            <p14:sldId id="261"/>
            <p14:sldId id="279"/>
            <p14:sldId id="275"/>
            <p14:sldId id="262"/>
          </p14:sldIdLst>
        </p14:section>
        <p14:section name="Seção sem Título" id="{4A23F183-D47D-4DA6-A4EC-BA86624D6EF5}">
          <p14:sldIdLst>
            <p14:sldId id="264"/>
            <p14:sldId id="265"/>
            <p14:sldId id="277"/>
            <p14:sldId id="263"/>
            <p14:sldId id="278"/>
            <p14:sldId id="2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A00"/>
    <a:srgbClr val="00D5FF"/>
    <a:srgbClr val="00D4FF"/>
    <a:srgbClr val="111111"/>
    <a:srgbClr val="9D58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897" autoAdjust="0"/>
    <p:restoredTop sz="94660"/>
  </p:normalViewPr>
  <p:slideViewPr>
    <p:cSldViewPr snapToGrid="0">
      <p:cViewPr varScale="1">
        <p:scale>
          <a:sx n="66" d="100"/>
          <a:sy n="66" d="100"/>
        </p:scale>
        <p:origin x="48" y="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9" Type="http://schemas.openxmlformats.org/officeDocument/2006/relationships/font" Target="fonts/font15.fntdata"/><Relationship Id="rId21" Type="http://schemas.openxmlformats.org/officeDocument/2006/relationships/slide" Target="slides/slide20.xml"/><Relationship Id="rId34" Type="http://schemas.openxmlformats.org/officeDocument/2006/relationships/font" Target="fonts/font10.fntdata"/><Relationship Id="rId42" Type="http://schemas.openxmlformats.org/officeDocument/2006/relationships/font" Target="fonts/font18.fntdata"/><Relationship Id="rId47" Type="http://schemas.openxmlformats.org/officeDocument/2006/relationships/font" Target="fonts/font23.fntdata"/><Relationship Id="rId50" Type="http://schemas.openxmlformats.org/officeDocument/2006/relationships/font" Target="fonts/font26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5.fntdata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openxmlformats.org/officeDocument/2006/relationships/font" Target="fonts/font13.fntdata"/><Relationship Id="rId40" Type="http://schemas.openxmlformats.org/officeDocument/2006/relationships/font" Target="fonts/font16.fntdata"/><Relationship Id="rId45" Type="http://schemas.openxmlformats.org/officeDocument/2006/relationships/font" Target="fonts/font21.fntdata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4" Type="http://schemas.openxmlformats.org/officeDocument/2006/relationships/font" Target="fonts/font20.fntdata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font" Target="fonts/font11.fntdata"/><Relationship Id="rId43" Type="http://schemas.openxmlformats.org/officeDocument/2006/relationships/font" Target="fonts/font19.fntdata"/><Relationship Id="rId48" Type="http://schemas.openxmlformats.org/officeDocument/2006/relationships/font" Target="fonts/font24.fntdata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38" Type="http://schemas.openxmlformats.org/officeDocument/2006/relationships/font" Target="fonts/font14.fntdata"/><Relationship Id="rId46" Type="http://schemas.openxmlformats.org/officeDocument/2006/relationships/font" Target="fonts/font22.fntdata"/><Relationship Id="rId20" Type="http://schemas.openxmlformats.org/officeDocument/2006/relationships/slide" Target="slides/slide19.xml"/><Relationship Id="rId41" Type="http://schemas.openxmlformats.org/officeDocument/2006/relationships/font" Target="fonts/font17.fntdata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font" Target="fonts/font12.fntdata"/><Relationship Id="rId49" Type="http://schemas.openxmlformats.org/officeDocument/2006/relationships/font" Target="fonts/font2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6" name="Google Shape;21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Relationship Id="rId9" Type="http://schemas.openxmlformats.org/officeDocument/2006/relationships/image" Target="../media/image4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27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581025" y="2238375"/>
            <a:ext cx="11581447" cy="16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CRM </a:t>
            </a:r>
            <a:r>
              <a:rPr lang="en-US" sz="6000" b="1" i="0" u="none" strike="noStrike" cap="none">
                <a:solidFill>
                  <a:srgbClr val="00D4FF"/>
                </a:solidFill>
                <a:latin typeface="Outfit"/>
                <a:ea typeface="Outfit"/>
                <a:cs typeface="Outfit"/>
                <a:sym typeface="Outfit"/>
              </a:rPr>
              <a:t>Intelligence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6000" b="1" i="0" u="none" strike="noStrike" cap="none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 Solution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581025" y="4105275"/>
            <a:ext cx="110299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666666"/>
                </a:solidFill>
                <a:latin typeface="Outfit Light"/>
                <a:ea typeface="Outfit Light"/>
                <a:cs typeface="Outfit Light"/>
                <a:sym typeface="Outfit Light"/>
              </a:rPr>
              <a:t>Automação BI &amp; ETL: Transformando dados em decisões estratégicas.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>
        <p15:prstTrans prst="curtains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369790"/>
            <a:ext cx="5276850" cy="300216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</p:pic>
      <p:pic>
        <p:nvPicPr>
          <p:cNvPr id="93" name="Google Shape;93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369790"/>
            <a:ext cx="5276850" cy="300216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923925" y="3493740"/>
            <a:ext cx="4820602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F8A00"/>
                </a:solidFill>
                <a:latin typeface="Outfit"/>
                <a:ea typeface="Outfit"/>
                <a:cs typeface="Outfit"/>
                <a:sym typeface="Outfit"/>
              </a:rPr>
              <a:t>Emerson José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923925" y="3971776"/>
            <a:ext cx="4591050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Responsável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pela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Arquitetura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de Dados &amp;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Engenharia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de ETL.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Construiu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o motor de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processamento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ultrarrápido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.</a:t>
            </a:r>
            <a:endParaRPr dirty="0"/>
          </a:p>
        </p:txBody>
      </p:sp>
      <p:sp>
        <p:nvSpPr>
          <p:cNvPr id="96" name="Google Shape;96;p14"/>
          <p:cNvSpPr txBox="1"/>
          <p:nvPr/>
        </p:nvSpPr>
        <p:spPr>
          <a:xfrm>
            <a:off x="6677025" y="3493740"/>
            <a:ext cx="4820602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F8A00"/>
                </a:solidFill>
                <a:latin typeface="Outfit"/>
                <a:ea typeface="Outfit"/>
                <a:cs typeface="Outfit"/>
                <a:sym typeface="Outfit"/>
              </a:rPr>
              <a:t>Poliana Azevedo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6677025" y="3971776"/>
            <a:ext cx="4591050" cy="1142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Responsável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pelas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Regras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de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Negócio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Criação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do Banco de Dados &amp; Analytics.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Traduz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números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em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inteligência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competitiva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.</a:t>
            </a:r>
            <a:endParaRPr dirty="0"/>
          </a:p>
        </p:txBody>
      </p:sp>
      <p:pic>
        <p:nvPicPr>
          <p:cNvPr id="98" name="Google Shape;98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23925" y="2769840"/>
            <a:ext cx="428625" cy="428625"/>
          </a:xfrm>
          <a:prstGeom prst="rect">
            <a:avLst/>
          </a:prstGeom>
          <a:solidFill>
            <a:srgbClr val="111111"/>
          </a:solidFill>
          <a:ln>
            <a:noFill/>
          </a:ln>
        </p:spPr>
      </p:pic>
      <p:pic>
        <p:nvPicPr>
          <p:cNvPr id="99" name="Google Shape;99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677025" y="2769840"/>
            <a:ext cx="428625" cy="428625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581025" y="581025"/>
            <a:ext cx="11581447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00D4FF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Os Arquitetos da Solução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400">
        <p14:ripple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10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43587" y="1997571"/>
            <a:ext cx="504825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5"/>
          <p:cNvSpPr txBox="1"/>
          <p:nvPr/>
        </p:nvSpPr>
        <p:spPr>
          <a:xfrm>
            <a:off x="1595437" y="2854821"/>
            <a:ext cx="9001125" cy="2005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0" i="0" u="none" strike="noStrike" cap="none" dirty="0">
                <a:solidFill>
                  <a:srgbClr val="FFFFFF"/>
                </a:solidFill>
                <a:latin typeface="Outfit Light"/>
                <a:ea typeface="Outfit Light"/>
                <a:cs typeface="Outfit Light"/>
                <a:sym typeface="Outfit Light"/>
              </a:rPr>
              <a:t>"Dados </a:t>
            </a:r>
            <a:r>
              <a:rPr lang="en-US" sz="4050" b="0" i="0" u="none" strike="noStrike" cap="none" dirty="0" err="1">
                <a:solidFill>
                  <a:srgbClr val="FFFFFF"/>
                </a:solidFill>
                <a:latin typeface="Outfit Light"/>
                <a:ea typeface="Outfit Light"/>
                <a:cs typeface="Outfit Light"/>
                <a:sym typeface="Outfit Light"/>
              </a:rPr>
              <a:t>sem</a:t>
            </a:r>
            <a:r>
              <a:rPr lang="en-US" sz="4050" b="0" i="0" u="none" strike="noStrike" cap="none" dirty="0">
                <a:solidFill>
                  <a:srgbClr val="FFFFFF"/>
                </a:solidFill>
                <a:latin typeface="Outfit Light"/>
                <a:ea typeface="Outfit Light"/>
                <a:cs typeface="Outfit Light"/>
                <a:sym typeface="Outfit Light"/>
              </a:rPr>
              <a:t> </a:t>
            </a:r>
            <a:r>
              <a:rPr lang="en-US" sz="4050" b="0" i="0" u="none" strike="noStrike" cap="none" dirty="0" err="1">
                <a:solidFill>
                  <a:srgbClr val="FFFFFF"/>
                </a:solidFill>
                <a:latin typeface="Outfit Light"/>
                <a:ea typeface="Outfit Light"/>
                <a:cs typeface="Outfit Light"/>
                <a:sym typeface="Outfit Light"/>
              </a:rPr>
              <a:t>tratamento</a:t>
            </a:r>
            <a:r>
              <a:rPr lang="en-US" sz="4050" b="0" i="0" u="none" strike="noStrike" cap="none" dirty="0">
                <a:solidFill>
                  <a:srgbClr val="FFFFFF"/>
                </a:solidFill>
                <a:latin typeface="Outfit Light"/>
                <a:ea typeface="Outfit Light"/>
                <a:cs typeface="Outfit Light"/>
                <a:sym typeface="Outfit Light"/>
              </a:rPr>
              <a:t> </a:t>
            </a:r>
            <a:r>
              <a:rPr lang="en-US" sz="4050" b="0" i="0" u="none" strike="noStrike" cap="none" dirty="0" err="1">
                <a:solidFill>
                  <a:srgbClr val="FFFFFF"/>
                </a:solidFill>
                <a:latin typeface="Outfit Light"/>
                <a:ea typeface="Outfit Light"/>
                <a:cs typeface="Outfit Light"/>
                <a:sym typeface="Outfit Light"/>
              </a:rPr>
              <a:t>são</a:t>
            </a:r>
            <a:r>
              <a:rPr lang="en-US" sz="4050" b="0" i="0" u="none" strike="noStrike" cap="none" dirty="0">
                <a:solidFill>
                  <a:srgbClr val="FFFFFF"/>
                </a:solidFill>
                <a:latin typeface="Outfit Light"/>
                <a:ea typeface="Outfit Light"/>
                <a:cs typeface="Outfit Light"/>
                <a:sym typeface="Outfit Light"/>
              </a:rPr>
              <a:t> </a:t>
            </a:r>
            <a:r>
              <a:rPr lang="en-US" sz="4050" b="0" i="0" u="none" strike="noStrike" cap="none" dirty="0" err="1">
                <a:solidFill>
                  <a:srgbClr val="FFFFFF"/>
                </a:solidFill>
                <a:latin typeface="Outfit Light"/>
                <a:ea typeface="Outfit Light"/>
                <a:cs typeface="Outfit Light"/>
                <a:sym typeface="Outfit Light"/>
              </a:rPr>
              <a:t>apenas</a:t>
            </a:r>
            <a:r>
              <a:rPr lang="en-US" sz="4050" b="0" i="0" u="none" strike="noStrike" cap="none" dirty="0">
                <a:solidFill>
                  <a:srgbClr val="FFFFFF"/>
                </a:solidFill>
                <a:latin typeface="Outfit Light"/>
                <a:ea typeface="Outfit Light"/>
                <a:cs typeface="Outfit Light"/>
                <a:sym typeface="Outfit Light"/>
              </a:rPr>
              <a:t> </a:t>
            </a:r>
            <a:r>
              <a:rPr lang="en-US" sz="4050" b="1" i="0" u="none" strike="noStrike" cap="none" dirty="0" err="1">
                <a:solidFill>
                  <a:srgbClr val="FF8A00"/>
                </a:solidFill>
                <a:latin typeface="Outfit"/>
                <a:ea typeface="Outfit"/>
                <a:cs typeface="Outfit"/>
                <a:sym typeface="Outfit"/>
              </a:rPr>
              <a:t>ruído</a:t>
            </a:r>
            <a:r>
              <a:rPr lang="en-US" sz="4050" b="0" i="0" u="none" strike="noStrike" cap="none" dirty="0">
                <a:solidFill>
                  <a:srgbClr val="FFFFFF"/>
                </a:solidFill>
                <a:latin typeface="Outfit Light"/>
                <a:ea typeface="Outfit Light"/>
                <a:cs typeface="Outfit Light"/>
                <a:sym typeface="Outfit Light"/>
              </a:rPr>
              <a:t>. </a:t>
            </a:r>
            <a:r>
              <a:rPr lang="en-US" sz="4050" b="0" i="0" u="none" strike="noStrike" cap="none" dirty="0" err="1">
                <a:solidFill>
                  <a:srgbClr val="FFFFFF"/>
                </a:solidFill>
                <a:latin typeface="Outfit Light"/>
                <a:ea typeface="Outfit Light"/>
                <a:cs typeface="Outfit Light"/>
                <a:sym typeface="Outfit Light"/>
              </a:rPr>
              <a:t>Inteligência</a:t>
            </a:r>
            <a:r>
              <a:rPr lang="en-US" sz="4050" b="0" i="0" u="none" strike="noStrike" cap="none" dirty="0">
                <a:solidFill>
                  <a:srgbClr val="FFFFFF"/>
                </a:solidFill>
                <a:latin typeface="Outfit Light"/>
                <a:ea typeface="Outfit Light"/>
                <a:cs typeface="Outfit Light"/>
                <a:sym typeface="Outfit Light"/>
              </a:rPr>
              <a:t> é o que </a:t>
            </a:r>
            <a:r>
              <a:rPr lang="en-US" sz="4050" b="0" i="0" u="none" strike="noStrike" cap="none" dirty="0" err="1">
                <a:solidFill>
                  <a:srgbClr val="FFFFFF"/>
                </a:solidFill>
                <a:latin typeface="Outfit Light"/>
                <a:ea typeface="Outfit Light"/>
                <a:cs typeface="Outfit Light"/>
                <a:sym typeface="Outfit Light"/>
              </a:rPr>
              <a:t>sobra</a:t>
            </a:r>
            <a:r>
              <a:rPr lang="en-US" sz="4050" b="0" i="0" u="none" strike="noStrike" cap="none" dirty="0">
                <a:solidFill>
                  <a:srgbClr val="FFFFFF"/>
                </a:solidFill>
                <a:latin typeface="Outfit Light"/>
                <a:ea typeface="Outfit Light"/>
                <a:cs typeface="Outfit Light"/>
                <a:sym typeface="Outfit Light"/>
              </a:rPr>
              <a:t> </a:t>
            </a:r>
            <a:r>
              <a:rPr lang="en-US" sz="4050" b="0" i="0" u="none" strike="noStrike" cap="none" dirty="0" err="1">
                <a:solidFill>
                  <a:srgbClr val="FFFFFF"/>
                </a:solidFill>
                <a:latin typeface="Outfit Light"/>
                <a:ea typeface="Outfit Light"/>
                <a:cs typeface="Outfit Light"/>
                <a:sym typeface="Outfit Light"/>
              </a:rPr>
              <a:t>após</a:t>
            </a:r>
            <a:r>
              <a:rPr lang="en-US" sz="4050" b="0" i="0" u="none" strike="noStrike" cap="none" dirty="0">
                <a:solidFill>
                  <a:srgbClr val="FFFFFF"/>
                </a:solidFill>
                <a:latin typeface="Outfit Light"/>
                <a:ea typeface="Outfit Light"/>
                <a:cs typeface="Outfit Light"/>
                <a:sym typeface="Outfit Light"/>
              </a:rPr>
              <a:t> a </a:t>
            </a:r>
            <a:r>
              <a:rPr lang="en-US" sz="4050" b="0" i="0" u="none" strike="noStrike" cap="none" dirty="0" err="1">
                <a:solidFill>
                  <a:srgbClr val="FFFFFF"/>
                </a:solidFill>
                <a:latin typeface="Outfit Light"/>
                <a:ea typeface="Outfit Light"/>
                <a:cs typeface="Outfit Light"/>
                <a:sym typeface="Outfit Light"/>
              </a:rPr>
              <a:t>refinaria</a:t>
            </a:r>
            <a:r>
              <a:rPr lang="en-US" sz="4050" b="0" i="0" u="none" strike="noStrike" cap="none" dirty="0">
                <a:solidFill>
                  <a:srgbClr val="FFFFFF"/>
                </a:solidFill>
                <a:latin typeface="Outfit Light"/>
                <a:ea typeface="Outfit Light"/>
                <a:cs typeface="Outfit Light"/>
                <a:sym typeface="Outfit Light"/>
              </a:rPr>
              <a:t>."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900">
        <p14:glitter pattern="hexagon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6"/>
          <p:cNvSpPr txBox="1"/>
          <p:nvPr/>
        </p:nvSpPr>
        <p:spPr>
          <a:xfrm>
            <a:off x="519112" y="1985753"/>
            <a:ext cx="519064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FF8A00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Fonte de Dados</a:t>
            </a:r>
            <a:endParaRPr dirty="0"/>
          </a:p>
        </p:txBody>
      </p:sp>
      <p:sp>
        <p:nvSpPr>
          <p:cNvPr id="114" name="Google Shape;114;p16"/>
          <p:cNvSpPr txBox="1"/>
          <p:nvPr/>
        </p:nvSpPr>
        <p:spPr>
          <a:xfrm>
            <a:off x="519112" y="2715643"/>
            <a:ext cx="5190648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FF8A00"/>
                </a:solidFill>
                <a:latin typeface="Outfit"/>
                <a:ea typeface="Outfit"/>
                <a:cs typeface="Outfit"/>
                <a:sym typeface="Outfit"/>
              </a:rPr>
              <a:t>Dataset: Predictive CRM</a:t>
            </a:r>
            <a:endParaRPr dirty="0"/>
          </a:p>
        </p:txBody>
      </p:sp>
      <p:sp>
        <p:nvSpPr>
          <p:cNvPr id="115" name="Google Shape;115;p16"/>
          <p:cNvSpPr txBox="1"/>
          <p:nvPr/>
        </p:nvSpPr>
        <p:spPr>
          <a:xfrm>
            <a:off x="183119" y="3263766"/>
            <a:ext cx="5312205" cy="2608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Extração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automatizada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via Kaggle API &amp; Web Scraping .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Trabalhamos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com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uma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base real de CRM para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simular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desafios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complexos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de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vendas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e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conversão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.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É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uma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base  de dados </a:t>
            </a:r>
            <a:r>
              <a:rPr lang="en-US" sz="1650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M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ultidimensionais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 pois 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reúne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informacoes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corporativas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,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setores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de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atuação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, equipe de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vendas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e etc.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17" name="Google Shape;117;p16"/>
          <p:cNvPicPr preferRelativeResize="0"/>
          <p:nvPr/>
        </p:nvPicPr>
        <p:blipFill>
          <a:blip r:embed="rId4"/>
          <a:srcRect/>
          <a:stretch/>
        </p:blipFill>
        <p:spPr>
          <a:xfrm>
            <a:off x="5678442" y="1392702"/>
            <a:ext cx="6243047" cy="4248444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/>
          <p:cNvSpPr txBox="1"/>
          <p:nvPr/>
        </p:nvSpPr>
        <p:spPr>
          <a:xfrm>
            <a:off x="95727" y="5922176"/>
            <a:ext cx="49434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6666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agungpambudi</a:t>
            </a:r>
            <a:r>
              <a:rPr lang="en-US" sz="1200" b="0" i="0" u="none" strike="noStrike" cap="none" dirty="0">
                <a:solidFill>
                  <a:srgbClr val="6666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</a:t>
            </a:r>
            <a:r>
              <a:rPr lang="en-US" sz="1200" b="0" i="0" u="none" strike="noStrike" cap="none" dirty="0" err="1">
                <a:solidFill>
                  <a:srgbClr val="6666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crm</a:t>
            </a:r>
            <a:r>
              <a:rPr lang="en-US" sz="1200" b="0" i="0" u="none" strike="noStrike" cap="none" dirty="0">
                <a:solidFill>
                  <a:srgbClr val="6666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-sales-predictive-analytics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29528" y="-6351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7758" y="3301476"/>
            <a:ext cx="3622625" cy="31032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0900" y="3305380"/>
            <a:ext cx="3517850" cy="309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8654" y="3347237"/>
            <a:ext cx="3517850" cy="3057523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749756" y="4161396"/>
            <a:ext cx="2973652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FF8A00"/>
                </a:solidFill>
                <a:latin typeface="Outfit"/>
                <a:ea typeface="Outfit"/>
                <a:cs typeface="Outfit"/>
                <a:sym typeface="Outfit"/>
              </a:rPr>
              <a:t>Polars &amp; Pandas</a:t>
            </a:r>
            <a:endParaRPr lang="en-US" dirty="0"/>
          </a:p>
        </p:txBody>
      </p:sp>
      <p:sp>
        <p:nvSpPr>
          <p:cNvPr id="128" name="Google Shape;128;p17"/>
          <p:cNvSpPr txBox="1"/>
          <p:nvPr/>
        </p:nvSpPr>
        <p:spPr>
          <a:xfrm>
            <a:off x="4679900" y="4146884"/>
            <a:ext cx="2973652" cy="4062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FF8A00"/>
                </a:solidFill>
                <a:latin typeface="Outfit"/>
                <a:ea typeface="Outfit"/>
                <a:cs typeface="Outfit"/>
                <a:sym typeface="Outfit"/>
              </a:rPr>
              <a:t>MySQL &amp; </a:t>
            </a:r>
            <a:r>
              <a:rPr lang="en-US" sz="2400" b="1" dirty="0" err="1">
                <a:solidFill>
                  <a:srgbClr val="FF8A00"/>
                </a:solidFill>
                <a:latin typeface="Outfit"/>
                <a:ea typeface="Outfit"/>
                <a:cs typeface="Outfit"/>
                <a:sym typeface="Outfit"/>
              </a:rPr>
              <a:t>Suparbase</a:t>
            </a:r>
            <a:r>
              <a:rPr lang="en-US" sz="2400" b="1" dirty="0">
                <a:solidFill>
                  <a:srgbClr val="FF8A00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endParaRPr dirty="0"/>
          </a:p>
        </p:txBody>
      </p:sp>
      <p:sp>
        <p:nvSpPr>
          <p:cNvPr id="129" name="Google Shape;129;p17"/>
          <p:cNvSpPr txBox="1"/>
          <p:nvPr/>
        </p:nvSpPr>
        <p:spPr>
          <a:xfrm>
            <a:off x="4921205" y="4628298"/>
            <a:ext cx="2832050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Armazenamento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colunar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híbrido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com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persistência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relacional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robusta.</a:t>
            </a:r>
            <a:endParaRPr dirty="0"/>
          </a:p>
        </p:txBody>
      </p:sp>
      <p:sp>
        <p:nvSpPr>
          <p:cNvPr id="130" name="Google Shape;130;p17"/>
          <p:cNvSpPr txBox="1"/>
          <p:nvPr/>
        </p:nvSpPr>
        <p:spPr>
          <a:xfrm>
            <a:off x="8406849" y="4016251"/>
            <a:ext cx="2973652" cy="4062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FF8A00"/>
                </a:solidFill>
                <a:latin typeface="Outfit"/>
                <a:ea typeface="Outfit"/>
                <a:cs typeface="Outfit"/>
                <a:sym typeface="Outfit"/>
              </a:rPr>
              <a:t>PDF &amp; Seaborn</a:t>
            </a:r>
            <a:endParaRPr dirty="0"/>
          </a:p>
        </p:txBody>
      </p:sp>
      <p:sp>
        <p:nvSpPr>
          <p:cNvPr id="131" name="Google Shape;131;p17"/>
          <p:cNvSpPr txBox="1"/>
          <p:nvPr/>
        </p:nvSpPr>
        <p:spPr>
          <a:xfrm>
            <a:off x="8695361" y="4472621"/>
            <a:ext cx="2832050" cy="1142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Reportlab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Geração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dinâmica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de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relatórios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com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estética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premium.</a:t>
            </a:r>
            <a:endParaRPr dirty="0"/>
          </a:p>
        </p:txBody>
      </p:sp>
      <p:pic>
        <p:nvPicPr>
          <p:cNvPr id="132" name="Google Shape;132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49757" y="3568125"/>
            <a:ext cx="371475" cy="428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79900" y="3553612"/>
            <a:ext cx="371475" cy="428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35874" y="3481037"/>
            <a:ext cx="428625" cy="428625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7"/>
          <p:cNvSpPr txBox="1"/>
          <p:nvPr/>
        </p:nvSpPr>
        <p:spPr>
          <a:xfrm>
            <a:off x="581026" y="581025"/>
            <a:ext cx="5239204" cy="1218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00D4FF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Stack </a:t>
            </a:r>
            <a:r>
              <a:rPr lang="en-US" sz="3600" dirty="0" err="1">
                <a:solidFill>
                  <a:srgbClr val="00D4FF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Tecnológica</a:t>
            </a:r>
            <a:r>
              <a:rPr lang="en-US" sz="3600" dirty="0">
                <a:solidFill>
                  <a:srgbClr val="00D4FF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 de</a:t>
            </a:r>
            <a:r>
              <a:rPr lang="en-US" sz="3600" b="0" i="0" u="none" strike="noStrike" cap="none" dirty="0">
                <a:solidFill>
                  <a:srgbClr val="00D4FF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 Alta Performance</a:t>
            </a:r>
            <a:endParaRPr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2CB9FD75-47EF-3AA1-DA39-0E88A397962F}"/>
              </a:ext>
            </a:extLst>
          </p:cNvPr>
          <p:cNvSpPr txBox="1"/>
          <p:nvPr/>
        </p:nvSpPr>
        <p:spPr>
          <a:xfrm>
            <a:off x="842073" y="4785376"/>
            <a:ext cx="297365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pt-BR" sz="1400" b="0" i="0" u="none" strike="noStrike" dirty="0">
                <a:solidFill>
                  <a:srgbClr val="F8FAFC"/>
                </a:solidFill>
                <a:effectLst/>
                <a:latin typeface="Inter" panose="020B0604020202020204" charset="0"/>
              </a:rPr>
              <a:t> </a:t>
            </a:r>
            <a:r>
              <a:rPr lang="pt-BR" sz="1400" b="1" i="0" u="none" strike="noStrike" dirty="0">
                <a:solidFill>
                  <a:srgbClr val="F8FAFC"/>
                </a:solidFill>
                <a:effectLst/>
                <a:latin typeface="Inter" panose="020B0604020202020204" charset="0"/>
              </a:rPr>
              <a:t>Python 3.11+:</a:t>
            </a:r>
            <a:r>
              <a:rPr lang="pt-BR" sz="1400" b="0" i="0" u="none" strike="noStrike" dirty="0">
                <a:solidFill>
                  <a:srgbClr val="F8FAFC"/>
                </a:solidFill>
                <a:effectLst/>
                <a:latin typeface="Inter" panose="020B0604020202020204" charset="0"/>
              </a:rPr>
              <a:t> Motor do pipeline.</a:t>
            </a:r>
            <a:endParaRPr lang="pt-BR" b="0" dirty="0">
              <a:effectLst/>
            </a:endParaRPr>
          </a:p>
          <a:p>
            <a:br>
              <a:rPr lang="pt-BR" dirty="0"/>
            </a:br>
            <a:endParaRPr lang="pt-BR" dirty="0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CE1F5510-33C2-1955-80B6-3C9AB8096C21}"/>
              </a:ext>
            </a:extLst>
          </p:cNvPr>
          <p:cNvSpPr txBox="1"/>
          <p:nvPr/>
        </p:nvSpPr>
        <p:spPr>
          <a:xfrm flipH="1" flipV="1">
            <a:off x="-4774561" y="2608573"/>
            <a:ext cx="23056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pt-BR" sz="1400" b="0" i="0" u="none" strike="noStrike" dirty="0">
                <a:solidFill>
                  <a:srgbClr val="F8FAFC"/>
                </a:solidFill>
                <a:effectLst/>
                <a:latin typeface="Inter" panose="020B0604020202020204" charset="0"/>
              </a:rPr>
              <a:t> </a:t>
            </a:r>
            <a:endParaRPr lang="pt-BR" b="0" dirty="0">
              <a:effectLst/>
            </a:endParaRPr>
          </a:p>
          <a:p>
            <a:br>
              <a:rPr lang="pt-BR" dirty="0"/>
            </a:br>
            <a:endParaRPr lang="pt-BR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6823081-1D04-0CE5-6545-92B7D32440A6}"/>
              </a:ext>
            </a:extLst>
          </p:cNvPr>
          <p:cNvSpPr txBox="1"/>
          <p:nvPr/>
        </p:nvSpPr>
        <p:spPr>
          <a:xfrm>
            <a:off x="2882585" y="2431230"/>
            <a:ext cx="61150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pt-BR" sz="1400" b="0" i="0" u="none" strike="noStrike" dirty="0">
                <a:solidFill>
                  <a:srgbClr val="F8FAFC"/>
                </a:solidFill>
                <a:effectLst/>
                <a:latin typeface="Inter" panose="020B0604020202020204" charset="0"/>
              </a:rPr>
              <a:t> </a:t>
            </a:r>
            <a:br>
              <a:rPr lang="pt-BR" dirty="0"/>
            </a:br>
            <a:endParaRPr lang="pt-BR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D38D1954-0539-9FC8-76CD-FA86EF9CB3AA}"/>
              </a:ext>
            </a:extLst>
          </p:cNvPr>
          <p:cNvSpPr txBox="1"/>
          <p:nvPr/>
        </p:nvSpPr>
        <p:spPr>
          <a:xfrm>
            <a:off x="-109453" y="1753129"/>
            <a:ext cx="611505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pt-BR" sz="1400" b="0" i="0" u="none" strike="noStrike" dirty="0">
                <a:solidFill>
                  <a:srgbClr val="F8FAFC"/>
                </a:solidFill>
                <a:effectLst/>
                <a:latin typeface="Inter" panose="020B0604020202020204" charset="0"/>
              </a:rPr>
              <a:t> </a:t>
            </a:r>
            <a:endParaRPr lang="pt-BR" b="0" dirty="0">
              <a:effectLst/>
            </a:endParaRPr>
          </a:p>
          <a:p>
            <a:br>
              <a:rPr lang="pt-BR" dirty="0"/>
            </a:br>
            <a:endParaRPr lang="pt-BR" dirty="0"/>
          </a:p>
        </p:txBody>
      </p:sp>
      <p:pic>
        <p:nvPicPr>
          <p:cNvPr id="1042" name="Picture 18">
            <a:extLst>
              <a:ext uri="{FF2B5EF4-FFF2-40B4-BE49-F238E27FC236}">
                <a16:creationId xmlns:a16="http://schemas.microsoft.com/office/drawing/2014/main" id="{8A94B1E5-559B-879A-7DFA-FA35DDF78C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 flipV="1">
            <a:off x="671765" y="4825619"/>
            <a:ext cx="221413" cy="257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4" name="Picture 20">
            <a:extLst>
              <a:ext uri="{FF2B5EF4-FFF2-40B4-BE49-F238E27FC236}">
                <a16:creationId xmlns:a16="http://schemas.microsoft.com/office/drawing/2014/main" id="{020456A5-6FF2-EDD4-8580-5F3C0AFD24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410" y="5312444"/>
            <a:ext cx="238125" cy="27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>
            <a:extLst>
              <a:ext uri="{FF2B5EF4-FFF2-40B4-BE49-F238E27FC236}">
                <a16:creationId xmlns:a16="http://schemas.microsoft.com/office/drawing/2014/main" id="{1CC73EEE-EC25-D005-005D-166DDBC991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496" y="5892447"/>
            <a:ext cx="266700" cy="27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6D20F63A-976B-895A-7FB0-12BFE43524C9}"/>
              </a:ext>
            </a:extLst>
          </p:cNvPr>
          <p:cNvSpPr txBox="1"/>
          <p:nvPr/>
        </p:nvSpPr>
        <p:spPr>
          <a:xfrm>
            <a:off x="916331" y="5309527"/>
            <a:ext cx="335285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pt-BR" sz="1400" b="1" i="0" u="none" strike="noStrike" dirty="0" err="1">
                <a:solidFill>
                  <a:srgbClr val="F8FAFC"/>
                </a:solidFill>
                <a:effectLst/>
                <a:latin typeface="Inter" panose="020B0604020202020204" charset="0"/>
              </a:rPr>
              <a:t>Polars</a:t>
            </a:r>
            <a:r>
              <a:rPr lang="pt-BR" sz="1400" b="1" i="0" u="none" strike="noStrike" dirty="0">
                <a:solidFill>
                  <a:srgbClr val="F8FAFC"/>
                </a:solidFill>
                <a:effectLst/>
                <a:latin typeface="Inter" panose="020B0604020202020204" charset="0"/>
              </a:rPr>
              <a:t>:</a:t>
            </a:r>
            <a:r>
              <a:rPr lang="pt-BR" sz="1400" b="0" i="0" u="none" strike="noStrike" dirty="0">
                <a:solidFill>
                  <a:srgbClr val="F8FAFC"/>
                </a:solidFill>
                <a:effectLst/>
                <a:latin typeface="Inter" panose="020B0604020202020204" charset="0"/>
              </a:rPr>
              <a:t> Manipulação </a:t>
            </a:r>
            <a:r>
              <a:rPr lang="pt-BR" sz="1400" b="0" i="0" u="none" strike="noStrike" dirty="0" err="1">
                <a:solidFill>
                  <a:srgbClr val="F8FAFC"/>
                </a:solidFill>
                <a:effectLst/>
                <a:latin typeface="Inter" panose="020B0604020202020204" charset="0"/>
              </a:rPr>
              <a:t>ultra-rápida</a:t>
            </a:r>
            <a:r>
              <a:rPr lang="pt-BR" sz="1400" b="0" i="0" u="none" strike="noStrike" dirty="0">
                <a:solidFill>
                  <a:srgbClr val="F8FAFC"/>
                </a:solidFill>
                <a:effectLst/>
                <a:latin typeface="Inter" panose="020B0604020202020204" charset="0"/>
              </a:rPr>
              <a:t>.</a:t>
            </a:r>
            <a:endParaRPr lang="pt-BR" b="0" dirty="0">
              <a:effectLst/>
            </a:endParaRPr>
          </a:p>
          <a:p>
            <a:br>
              <a:rPr lang="pt-BR" dirty="0"/>
            </a:br>
            <a:endParaRPr lang="pt-BR" dirty="0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A80DD699-3CA5-D82D-05DF-94075F4B6A4E}"/>
              </a:ext>
            </a:extLst>
          </p:cNvPr>
          <p:cNvSpPr txBox="1"/>
          <p:nvPr/>
        </p:nvSpPr>
        <p:spPr>
          <a:xfrm>
            <a:off x="887574" y="5871066"/>
            <a:ext cx="289777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pt-BR" sz="1400" b="1" i="0" u="none" strike="noStrike" dirty="0">
                <a:solidFill>
                  <a:srgbClr val="F8FAFC"/>
                </a:solidFill>
                <a:effectLst/>
                <a:latin typeface="Inter" panose="020B0604020202020204" charset="0"/>
              </a:rPr>
              <a:t>PySide6:</a:t>
            </a:r>
            <a:r>
              <a:rPr lang="pt-BR" sz="1400" b="0" i="0" u="none" strike="noStrike" dirty="0">
                <a:solidFill>
                  <a:srgbClr val="F8FAFC"/>
                </a:solidFill>
                <a:effectLst/>
                <a:latin typeface="Inter" panose="020B0604020202020204" charset="0"/>
              </a:rPr>
              <a:t> Interface GUI Premium.</a:t>
            </a:r>
            <a:endParaRPr lang="pt-BR" b="0" dirty="0">
              <a:effectLst/>
            </a:endParaRPr>
          </a:p>
          <a:p>
            <a:br>
              <a:rPr lang="pt-BR" dirty="0"/>
            </a:br>
            <a:endParaRPr lang="pt-BR" dirty="0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B45AF343-DB87-36C8-EAD6-3D2BB2AD5788}"/>
              </a:ext>
            </a:extLst>
          </p:cNvPr>
          <p:cNvSpPr txBox="1"/>
          <p:nvPr/>
        </p:nvSpPr>
        <p:spPr>
          <a:xfrm>
            <a:off x="2948072" y="2205192"/>
            <a:ext cx="8534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br>
              <a:rPr lang="pt-BR" dirty="0"/>
            </a:br>
            <a:endParaRPr lang="pt-BR" dirty="0"/>
          </a:p>
        </p:txBody>
      </p:sp>
      <p:pic>
        <p:nvPicPr>
          <p:cNvPr id="1048" name="Picture 24">
            <a:extLst>
              <a:ext uri="{FF2B5EF4-FFF2-40B4-BE49-F238E27FC236}">
                <a16:creationId xmlns:a16="http://schemas.microsoft.com/office/drawing/2014/main" id="{AF05FDB7-1D50-9011-FDF1-611F70F2E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5511" y="4749094"/>
            <a:ext cx="333375" cy="27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Google Shape;129;p16" descr="image.png">
            <a:extLst>
              <a:ext uri="{FF2B5EF4-FFF2-40B4-BE49-F238E27FC236}">
                <a16:creationId xmlns:a16="http://schemas.microsoft.com/office/drawing/2014/main" id="{A1442F6C-533F-5A58-6F44-D6D36EB3BE12}"/>
              </a:ext>
            </a:extLst>
          </p:cNvPr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308637" y="4601038"/>
            <a:ext cx="277020" cy="336739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125;p17" descr="image.png">
            <a:extLst>
              <a:ext uri="{FF2B5EF4-FFF2-40B4-BE49-F238E27FC236}">
                <a16:creationId xmlns:a16="http://schemas.microsoft.com/office/drawing/2014/main" id="{A81E70B1-FD74-4A8D-A35B-54CA9BB881B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1396" y="146838"/>
            <a:ext cx="3517850" cy="3099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136;p17" descr="image.png">
            <a:extLst>
              <a:ext uri="{FF2B5EF4-FFF2-40B4-BE49-F238E27FC236}">
                <a16:creationId xmlns:a16="http://schemas.microsoft.com/office/drawing/2014/main" id="{786C7AE0-241E-2922-9B64-6600CD75C17E}"/>
              </a:ext>
            </a:extLst>
          </p:cNvPr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8349806" y="354681"/>
            <a:ext cx="571500" cy="571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45;p17" descr="image.png">
            <a:extLst>
              <a:ext uri="{FF2B5EF4-FFF2-40B4-BE49-F238E27FC236}">
                <a16:creationId xmlns:a16="http://schemas.microsoft.com/office/drawing/2014/main" id="{F0284725-3C22-53F7-1A71-DE9046A5BFC7}"/>
              </a:ext>
            </a:extLst>
          </p:cNvPr>
          <p:cNvPicPr preferRelativeResize="0"/>
          <p:nvPr/>
        </p:nvPicPr>
        <p:blipFill rotWithShape="1">
          <a:blip r:embed="rId16">
            <a:alphaModFix/>
            <a:duotone>
              <a:prstClr val="black"/>
              <a:schemeClr val="accent5"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8455483" y="489390"/>
            <a:ext cx="361950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37;p17">
            <a:extLst>
              <a:ext uri="{FF2B5EF4-FFF2-40B4-BE49-F238E27FC236}">
                <a16:creationId xmlns:a16="http://schemas.microsoft.com/office/drawing/2014/main" id="{239D973C-8FBA-F0CE-F470-78169B944BCF}"/>
              </a:ext>
            </a:extLst>
          </p:cNvPr>
          <p:cNvSpPr txBox="1"/>
          <p:nvPr/>
        </p:nvSpPr>
        <p:spPr>
          <a:xfrm>
            <a:off x="8368540" y="1051100"/>
            <a:ext cx="284707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FF8A0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Gemini AI CLI</a:t>
            </a:r>
            <a:endParaRPr sz="2400" dirty="0">
              <a:solidFill>
                <a:srgbClr val="FF8A00"/>
              </a:solidFill>
            </a:endParaRPr>
          </a:p>
        </p:txBody>
      </p:sp>
      <p:sp>
        <p:nvSpPr>
          <p:cNvPr id="12" name="Google Shape;138;p17">
            <a:extLst>
              <a:ext uri="{FF2B5EF4-FFF2-40B4-BE49-F238E27FC236}">
                <a16:creationId xmlns:a16="http://schemas.microsoft.com/office/drawing/2014/main" id="{CB2153A2-6C11-6A3E-7712-C08A2C9D2C63}"/>
              </a:ext>
            </a:extLst>
          </p:cNvPr>
          <p:cNvSpPr txBox="1"/>
          <p:nvPr/>
        </p:nvSpPr>
        <p:spPr>
          <a:xfrm>
            <a:off x="8376084" y="1608021"/>
            <a:ext cx="2711499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Orquestrador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do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desenvolvimento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: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Correção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erros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e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otimização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de performance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em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tempo real.</a:t>
            </a:r>
            <a:endParaRPr dirty="0"/>
          </a:p>
        </p:txBody>
      </p:sp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101155"/>
            <a:ext cx="523875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5"/>
          <p:cNvSpPr txBox="1"/>
          <p:nvPr/>
        </p:nvSpPr>
        <p:spPr>
          <a:xfrm>
            <a:off x="571500" y="2367855"/>
            <a:ext cx="550068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DEFF9A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Correção</a:t>
            </a:r>
            <a:r>
              <a:rPr lang="en-US" sz="2100" b="0" i="0" u="none" strike="noStrike" cap="none" dirty="0">
                <a:solidFill>
                  <a:srgbClr val="DEFF9A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 de </a:t>
            </a:r>
            <a:r>
              <a:rPr lang="en-US" sz="2100" b="0" i="0" u="none" strike="noStrike" cap="none" dirty="0" err="1">
                <a:solidFill>
                  <a:srgbClr val="DEFF9A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Erros</a:t>
            </a:r>
            <a:r>
              <a:rPr lang="en-US" sz="2100" b="0" i="0" u="none" strike="noStrike" cap="none" dirty="0">
                <a:solidFill>
                  <a:srgbClr val="DEFF9A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 e </a:t>
            </a:r>
            <a:r>
              <a:rPr lang="en-US" sz="2100" b="0" i="0" u="none" strike="noStrike" cap="none" dirty="0" err="1">
                <a:solidFill>
                  <a:srgbClr val="DEFF9A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Proatividade</a:t>
            </a:r>
            <a:endParaRPr dirty="0"/>
          </a:p>
        </p:txBody>
      </p:sp>
      <p:sp>
        <p:nvSpPr>
          <p:cNvPr id="103" name="Google Shape;103;p15"/>
          <p:cNvSpPr txBox="1"/>
          <p:nvPr/>
        </p:nvSpPr>
        <p:spPr>
          <a:xfrm>
            <a:off x="571500" y="2882205"/>
            <a:ext cx="52387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O Gemini CLI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não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foi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apenas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uma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ferramenta de consulta, mas um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parceiro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depuração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endParaRPr dirty="0"/>
          </a:p>
        </p:txBody>
      </p:sp>
      <p:pic>
        <p:nvPicPr>
          <p:cNvPr id="104" name="Google Shape;104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91275" y="2110680"/>
            <a:ext cx="5219700" cy="379095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5"/>
          <p:cNvSpPr txBox="1"/>
          <p:nvPr/>
        </p:nvSpPr>
        <p:spPr>
          <a:xfrm>
            <a:off x="571500" y="3644205"/>
            <a:ext cx="52387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57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Análise de Stack Trace: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Identificação instantânea de gargalos em loops complexos.</a:t>
            </a:r>
            <a:endParaRPr/>
          </a:p>
        </p:txBody>
      </p:sp>
      <p:sp>
        <p:nvSpPr>
          <p:cNvPr id="106" name="Google Shape;106;p15"/>
          <p:cNvSpPr txBox="1"/>
          <p:nvPr/>
        </p:nvSpPr>
        <p:spPr>
          <a:xfrm>
            <a:off x="571500" y="4358580"/>
            <a:ext cx="52387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57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Refatoração</a:t>
            </a:r>
            <a:r>
              <a:rPr lang="en-US" sz="1500" b="1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de Polars: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Sugestões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LazyFrames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para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otimizar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o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uso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memória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sp>
        <p:nvSpPr>
          <p:cNvPr id="107" name="Google Shape;107;p15"/>
          <p:cNvSpPr txBox="1"/>
          <p:nvPr/>
        </p:nvSpPr>
        <p:spPr>
          <a:xfrm>
            <a:off x="571500" y="5072955"/>
            <a:ext cx="52387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57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Segurança: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Validação de conexões de banco de dados e túneis de rede.</a:t>
            </a:r>
            <a:endParaRPr/>
          </a:p>
        </p:txBody>
      </p:sp>
      <p:pic>
        <p:nvPicPr>
          <p:cNvPr id="108" name="Google Shape;108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368706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440144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71500" y="5115817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5"/>
          <p:cNvSpPr txBox="1"/>
          <p:nvPr/>
        </p:nvSpPr>
        <p:spPr>
          <a:xfrm>
            <a:off x="571500" y="887610"/>
            <a:ext cx="1160145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IA no Coração do Desenvolvimento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95275" y="1918394"/>
            <a:ext cx="11601450" cy="104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ECOSSISTEMA </a:t>
            </a:r>
            <a:r>
              <a:rPr lang="en-US" sz="7500" b="1" i="0" u="none" strike="noStrike" cap="none">
                <a:solidFill>
                  <a:srgbClr val="3B82F6"/>
                </a:solidFill>
                <a:latin typeface="Urbanist"/>
                <a:ea typeface="Urbanist"/>
                <a:cs typeface="Urbanist"/>
                <a:sym typeface="Urbanist"/>
              </a:rPr>
              <a:t>ETL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571500" y="3270944"/>
            <a:ext cx="11049000" cy="590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DEFF9A"/>
                </a:solidFill>
                <a:latin typeface="Inter"/>
                <a:ea typeface="Inter"/>
                <a:cs typeface="Inter"/>
                <a:sym typeface="Inter"/>
              </a:rPr>
              <a:t>EXTRAÇÃO </a:t>
            </a:r>
            <a:r>
              <a:rPr lang="en-US" sz="2400" b="0" i="0" u="none" strike="noStrike" cap="none" dirty="0">
                <a:solidFill>
                  <a:srgbClr val="DEFF9A"/>
                </a:solidFill>
                <a:latin typeface="Inter"/>
                <a:ea typeface="Inter"/>
                <a:cs typeface="Inter"/>
                <a:sym typeface="Inter"/>
              </a:rPr>
              <a:t>➜ </a:t>
            </a:r>
            <a:r>
              <a:rPr lang="en-US" sz="2400" dirty="0">
                <a:solidFill>
                  <a:srgbClr val="DEFF9A"/>
                </a:solidFill>
                <a:latin typeface="Inter"/>
                <a:ea typeface="Inter"/>
                <a:cs typeface="Inter"/>
                <a:sym typeface="Inter"/>
              </a:rPr>
              <a:t>TRANSFORMAÇÃO</a:t>
            </a:r>
            <a:r>
              <a:rPr lang="en-US" sz="2400" b="0" i="0" u="none" strike="noStrike" cap="none" dirty="0">
                <a:solidFill>
                  <a:srgbClr val="DEFF9A"/>
                </a:solidFill>
                <a:latin typeface="Inter"/>
                <a:ea typeface="Inter"/>
                <a:cs typeface="Inter"/>
                <a:sym typeface="Inter"/>
              </a:rPr>
              <a:t> ➜ CARREGAMENTO</a:t>
            </a:r>
            <a:endParaRPr dirty="0"/>
          </a:p>
        </p:txBody>
      </p:sp>
      <p:sp>
        <p:nvSpPr>
          <p:cNvPr id="87" name="Google Shape;87;p13"/>
          <p:cNvSpPr txBox="1"/>
          <p:nvPr/>
        </p:nvSpPr>
        <p:spPr>
          <a:xfrm>
            <a:off x="571500" y="4444305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 Medium"/>
                <a:ea typeface="Inter Medium"/>
                <a:cs typeface="Inter Medium"/>
                <a:sym typeface="Inter Medium"/>
              </a:rPr>
              <a:t>Integração Analítica e Arquitetura de Dados Profissional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228850"/>
            <a:ext cx="523875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4249638"/>
            <a:ext cx="5238750" cy="587424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7"/>
          <p:cNvSpPr txBox="1"/>
          <p:nvPr/>
        </p:nvSpPr>
        <p:spPr>
          <a:xfrm>
            <a:off x="571500" y="3144738"/>
            <a:ext cx="52387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O processo inicia com a coleta híbrida de dados, garantindo que o ecossistema seja alimentado por fontes diversas e confiáveis.</a:t>
            </a:r>
            <a:endParaRPr/>
          </a:p>
        </p:txBody>
      </p:sp>
      <p:pic>
        <p:nvPicPr>
          <p:cNvPr id="141" name="Google Shape;141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91275" y="2238375"/>
            <a:ext cx="5219700" cy="331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62000" y="4440138"/>
            <a:ext cx="4857750" cy="206424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7"/>
          <p:cNvSpPr txBox="1"/>
          <p:nvPr/>
        </p:nvSpPr>
        <p:spPr>
          <a:xfrm>
            <a:off x="762000" y="571500"/>
            <a:ext cx="11401425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FLUXO DE EXTRAÇÃO</a:t>
            </a:r>
            <a:endParaRPr/>
          </a:p>
        </p:txBody>
      </p:sp>
      <p:sp>
        <p:nvSpPr>
          <p:cNvPr id="144" name="Google Shape;144;p17"/>
          <p:cNvSpPr/>
          <p:nvPr/>
        </p:nvSpPr>
        <p:spPr>
          <a:xfrm>
            <a:off x="571500" y="571500"/>
            <a:ext cx="57150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Google Shape;149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8"/>
          <p:cNvSpPr txBox="1"/>
          <p:nvPr/>
        </p:nvSpPr>
        <p:spPr>
          <a:xfrm>
            <a:off x="571500" y="2947987"/>
            <a:ext cx="523875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0" b="1" i="0" u="none" strike="noStrike" cap="none">
                <a:solidFill>
                  <a:srgbClr val="DEFF9A"/>
                </a:solidFill>
                <a:latin typeface="Inter"/>
                <a:ea typeface="Inter"/>
                <a:cs typeface="Inter"/>
                <a:sym typeface="Inter"/>
              </a:rPr>
              <a:t>10x</a:t>
            </a:r>
            <a:endParaRPr/>
          </a:p>
        </p:txBody>
      </p:sp>
      <p:sp>
        <p:nvSpPr>
          <p:cNvPr id="151" name="Google Shape;151;p18"/>
          <p:cNvSpPr txBox="1"/>
          <p:nvPr/>
        </p:nvSpPr>
        <p:spPr>
          <a:xfrm>
            <a:off x="571500" y="4471987"/>
            <a:ext cx="5238750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MAIS VELOZ</a:t>
            </a:r>
            <a:endParaRPr/>
          </a:p>
        </p:txBody>
      </p:sp>
      <p:sp>
        <p:nvSpPr>
          <p:cNvPr id="152" name="Google Shape;152;p18"/>
          <p:cNvSpPr txBox="1"/>
          <p:nvPr/>
        </p:nvSpPr>
        <p:spPr>
          <a:xfrm>
            <a:off x="6381750" y="2614612"/>
            <a:ext cx="550068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Uso de Arquivos Parquet</a:t>
            </a:r>
            <a:endParaRPr/>
          </a:p>
        </p:txBody>
      </p:sp>
      <p:sp>
        <p:nvSpPr>
          <p:cNvPr id="153" name="Google Shape;153;p18"/>
          <p:cNvSpPr txBox="1"/>
          <p:nvPr/>
        </p:nvSpPr>
        <p:spPr>
          <a:xfrm>
            <a:off x="6381750" y="3024187"/>
            <a:ext cx="52387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 conversão de CSV para Parquet permite:</a:t>
            </a:r>
            <a:endParaRPr/>
          </a:p>
        </p:txBody>
      </p:sp>
      <p:sp>
        <p:nvSpPr>
          <p:cNvPr id="154" name="Google Shape;154;p18"/>
          <p:cNvSpPr txBox="1"/>
          <p:nvPr/>
        </p:nvSpPr>
        <p:spPr>
          <a:xfrm>
            <a:off x="6810375" y="3519487"/>
            <a:ext cx="481012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Compressão eficiente de disco.</a:t>
            </a:r>
            <a:endParaRPr/>
          </a:p>
        </p:txBody>
      </p:sp>
      <p:sp>
        <p:nvSpPr>
          <p:cNvPr id="155" name="Google Shape;155;p18"/>
          <p:cNvSpPr txBox="1"/>
          <p:nvPr/>
        </p:nvSpPr>
        <p:spPr>
          <a:xfrm>
            <a:off x="6810375" y="4071937"/>
            <a:ext cx="481012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Leitura colunar otimizada.</a:t>
            </a:r>
            <a:endParaRPr/>
          </a:p>
        </p:txBody>
      </p:sp>
      <p:sp>
        <p:nvSpPr>
          <p:cNvPr id="156" name="Google Shape;156;p18"/>
          <p:cNvSpPr txBox="1"/>
          <p:nvPr/>
        </p:nvSpPr>
        <p:spPr>
          <a:xfrm>
            <a:off x="6810375" y="4624387"/>
            <a:ext cx="481012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Redução</a:t>
            </a:r>
            <a:r>
              <a:rPr lang="en-US" sz="1800" b="0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de </a:t>
            </a:r>
            <a:r>
              <a:rPr lang="en-US" sz="1800" b="0" i="0" u="none" strike="noStrike" cap="none" dirty="0" err="1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latência</a:t>
            </a:r>
            <a:r>
              <a:rPr lang="en-US" sz="1800" b="0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no I/O.</a:t>
            </a:r>
            <a:endParaRPr dirty="0"/>
          </a:p>
        </p:txBody>
      </p:sp>
      <p:pic>
        <p:nvPicPr>
          <p:cNvPr id="157" name="Google Shape;157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3562350"/>
            <a:ext cx="238125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4114800"/>
            <a:ext cx="238125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4667250"/>
            <a:ext cx="238125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/>
          <p:cNvSpPr txBox="1"/>
          <p:nvPr/>
        </p:nvSpPr>
        <p:spPr>
          <a:xfrm>
            <a:off x="762000" y="571500"/>
            <a:ext cx="11401425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TRASNFORMAÇÃO E OTIMIZAÇÃO DE PERFORMANCE</a:t>
            </a:r>
            <a:endParaRPr dirty="0"/>
          </a:p>
        </p:txBody>
      </p:sp>
      <p:sp>
        <p:nvSpPr>
          <p:cNvPr id="161" name="Google Shape;161;p18"/>
          <p:cNvSpPr/>
          <p:nvPr/>
        </p:nvSpPr>
        <p:spPr>
          <a:xfrm>
            <a:off x="571500" y="571500"/>
            <a:ext cx="57150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Google Shape;186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990725"/>
            <a:ext cx="5238750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2000250"/>
            <a:ext cx="5219700" cy="379095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20"/>
          <p:cNvSpPr txBox="1"/>
          <p:nvPr/>
        </p:nvSpPr>
        <p:spPr>
          <a:xfrm>
            <a:off x="6250781" y="1857375"/>
            <a:ext cx="550068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Isolamento</a:t>
            </a:r>
            <a:r>
              <a:rPr lang="en-US" sz="1404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404" b="1" i="0" u="none" strike="noStrike" cap="none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Responsabilidade</a:t>
            </a:r>
            <a:endParaRPr dirty="0"/>
          </a:p>
        </p:txBody>
      </p:sp>
      <p:sp>
        <p:nvSpPr>
          <p:cNvPr id="190" name="Google Shape;190;p20"/>
          <p:cNvSpPr txBox="1"/>
          <p:nvPr/>
        </p:nvSpPr>
        <p:spPr>
          <a:xfrm>
            <a:off x="6250781" y="2257425"/>
            <a:ext cx="5238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Desenvolvemos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módulos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desacoplados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para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garantir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manutenção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simplificada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endParaRPr dirty="0"/>
          </a:p>
        </p:txBody>
      </p:sp>
      <p:sp>
        <p:nvSpPr>
          <p:cNvPr id="191" name="Google Shape;191;p20"/>
          <p:cNvSpPr txBox="1"/>
          <p:nvPr/>
        </p:nvSpPr>
        <p:spPr>
          <a:xfrm>
            <a:off x="6372225" y="3673609"/>
            <a:ext cx="52387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conecao_supar.py:</a:t>
            </a:r>
            <a:r>
              <a:rPr lang="en-US" sz="1800" b="0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b="0" i="0" u="none" strike="noStrike" cap="none" dirty="0" err="1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Túnel</a:t>
            </a:r>
            <a:r>
              <a:rPr lang="en-US" sz="1800" b="0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de rede (Porta 6543).</a:t>
            </a:r>
            <a:endParaRPr dirty="0"/>
          </a:p>
        </p:txBody>
      </p:sp>
      <p:sp>
        <p:nvSpPr>
          <p:cNvPr id="192" name="Google Shape;192;p20"/>
          <p:cNvSpPr txBox="1"/>
          <p:nvPr/>
        </p:nvSpPr>
        <p:spPr>
          <a:xfrm>
            <a:off x="6381750" y="4105275"/>
            <a:ext cx="52387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inserir_supabase.py:</a:t>
            </a:r>
            <a:r>
              <a:rPr lang="en-US" sz="1800" b="0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b="0" i="0" u="none" strike="noStrike" cap="none" dirty="0" err="1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Lógica</a:t>
            </a:r>
            <a:r>
              <a:rPr lang="en-US" sz="1800" b="0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de carga e </a:t>
            </a:r>
            <a:r>
              <a:rPr lang="en-US" sz="1800" b="0" i="0" u="none" strike="noStrike" cap="none" dirty="0" err="1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mapeamento</a:t>
            </a:r>
            <a:r>
              <a:rPr lang="en-US" sz="1800" b="0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sp>
        <p:nvSpPr>
          <p:cNvPr id="193" name="Google Shape;193;p20"/>
          <p:cNvSpPr txBox="1"/>
          <p:nvPr/>
        </p:nvSpPr>
        <p:spPr>
          <a:xfrm>
            <a:off x="6381750" y="4895850"/>
            <a:ext cx="52387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funcoes.py:</a:t>
            </a:r>
            <a:r>
              <a:rPr lang="en-US" sz="1800" b="0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Padronização de logs e terminal.</a:t>
            </a:r>
            <a:endParaRPr/>
          </a:p>
        </p:txBody>
      </p:sp>
      <p:sp>
        <p:nvSpPr>
          <p:cNvPr id="194" name="Google Shape;194;p20"/>
          <p:cNvSpPr txBox="1"/>
          <p:nvPr/>
        </p:nvSpPr>
        <p:spPr>
          <a:xfrm>
            <a:off x="762000" y="571500"/>
            <a:ext cx="11401425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CARREGAMENTO MÓDULOS DE CONEXÃO</a:t>
            </a:r>
            <a:endParaRPr dirty="0"/>
          </a:p>
        </p:txBody>
      </p:sp>
      <p:sp>
        <p:nvSpPr>
          <p:cNvPr id="195" name="Google Shape;195;p20"/>
          <p:cNvSpPr/>
          <p:nvPr/>
        </p:nvSpPr>
        <p:spPr>
          <a:xfrm>
            <a:off x="571500" y="571500"/>
            <a:ext cx="57150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91;p20">
            <a:extLst>
              <a:ext uri="{FF2B5EF4-FFF2-40B4-BE49-F238E27FC236}">
                <a16:creationId xmlns:a16="http://schemas.microsoft.com/office/drawing/2014/main" id="{F2692E30-1B7A-3140-4188-844288254AB0}"/>
              </a:ext>
            </a:extLst>
          </p:cNvPr>
          <p:cNvSpPr txBox="1"/>
          <p:nvPr/>
        </p:nvSpPr>
        <p:spPr>
          <a:xfrm>
            <a:off x="6372225" y="3195637"/>
            <a:ext cx="52387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conecao_</a:t>
            </a:r>
            <a:r>
              <a:rPr lang="en-US" sz="1800" b="1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MYSQL</a:t>
            </a:r>
            <a:r>
              <a:rPr lang="en-US" sz="1800" b="1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.py:</a:t>
            </a:r>
            <a:r>
              <a:rPr lang="en-US" sz="1800" b="0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b="0" i="0" u="none" strike="noStrike" cap="none" dirty="0" err="1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Túnel</a:t>
            </a:r>
            <a:r>
              <a:rPr lang="en-US" sz="1800" b="0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de rede (</a:t>
            </a:r>
            <a:r>
              <a:rPr lang="en-US" sz="1800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Localhost</a:t>
            </a:r>
            <a:r>
              <a:rPr lang="en-US" sz="1800" b="0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ripple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67" name="Google Shape;167;p19"/>
          <p:cNvGraphicFramePr/>
          <p:nvPr/>
        </p:nvGraphicFramePr>
        <p:xfrm>
          <a:off x="571500" y="2481262"/>
          <a:ext cx="11049000" cy="30290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427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5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5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Tabela Origem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 dirty="0" err="1">
                          <a:solidFill>
                            <a:srgbClr val="DEFF9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Tabela</a:t>
                      </a:r>
                      <a:r>
                        <a:rPr lang="en-US" sz="1650" b="1" i="0" u="none" strike="noStrike" cap="none" dirty="0">
                          <a:solidFill>
                            <a:srgbClr val="DEFF9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r>
                        <a:rPr lang="en-US" sz="1650" b="1" i="0" u="none" strike="noStrike" cap="none" dirty="0" err="1">
                          <a:solidFill>
                            <a:srgbClr val="DEFF9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Destino</a:t>
                      </a:r>
                      <a:r>
                        <a:rPr lang="en-US" sz="1650" b="1" i="0" u="none" strike="noStrike" cap="none" dirty="0">
                          <a:solidFill>
                            <a:srgbClr val="DEFF9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(</a:t>
                      </a:r>
                      <a:r>
                        <a:rPr lang="en-US" sz="1650" b="1" i="0" u="none" strike="noStrike" cap="none" dirty="0" err="1">
                          <a:solidFill>
                            <a:srgbClr val="DEFF9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Supabase</a:t>
                      </a:r>
                      <a:r>
                        <a:rPr lang="en-US" sz="1650" b="1" i="0" u="none" strike="noStrike" cap="none" dirty="0">
                          <a:solidFill>
                            <a:srgbClr val="DEFF9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)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Chave de Transformação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5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contas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 err="1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stg_contas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ano_fundacao ➜ ano_estabelecimento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5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equipes_vendas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stg_vendedores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agente_vendas ➜ vendedor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5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produtos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stg_produtos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preco_venda ➜ preco_minimo_venda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5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pipeline_vendas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 err="1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stg_funil_vendas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 err="1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fase_negociacao</a:t>
                      </a:r>
                      <a:r>
                        <a:rPr lang="en-US" sz="1350" b="0" i="0" u="none" strike="noStrike" cap="none" dirty="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➜ </a:t>
                      </a:r>
                      <a:r>
                        <a:rPr lang="en-US" sz="1350" b="0" i="0" u="none" strike="noStrike" cap="none" dirty="0" err="1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status_negocio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68" name="Google Shape;168;p19"/>
          <p:cNvSpPr/>
          <p:nvPr/>
        </p:nvSpPr>
        <p:spPr>
          <a:xfrm>
            <a:off x="571500" y="3695700"/>
            <a:ext cx="242768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9"/>
          <p:cNvSpPr/>
          <p:nvPr/>
        </p:nvSpPr>
        <p:spPr>
          <a:xfrm>
            <a:off x="2999184" y="3695700"/>
            <a:ext cx="402565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9"/>
          <p:cNvSpPr/>
          <p:nvPr/>
        </p:nvSpPr>
        <p:spPr>
          <a:xfrm>
            <a:off x="7024836" y="3695700"/>
            <a:ext cx="459566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9"/>
          <p:cNvSpPr/>
          <p:nvPr/>
        </p:nvSpPr>
        <p:spPr>
          <a:xfrm>
            <a:off x="571500" y="4295775"/>
            <a:ext cx="242768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9"/>
          <p:cNvSpPr/>
          <p:nvPr/>
        </p:nvSpPr>
        <p:spPr>
          <a:xfrm>
            <a:off x="2999184" y="4295775"/>
            <a:ext cx="402565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9"/>
          <p:cNvSpPr/>
          <p:nvPr/>
        </p:nvSpPr>
        <p:spPr>
          <a:xfrm>
            <a:off x="7024836" y="4295775"/>
            <a:ext cx="459566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9"/>
          <p:cNvSpPr/>
          <p:nvPr/>
        </p:nvSpPr>
        <p:spPr>
          <a:xfrm>
            <a:off x="571500" y="4895850"/>
            <a:ext cx="242768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9"/>
          <p:cNvSpPr/>
          <p:nvPr/>
        </p:nvSpPr>
        <p:spPr>
          <a:xfrm>
            <a:off x="2999184" y="4895850"/>
            <a:ext cx="402565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9"/>
          <p:cNvSpPr/>
          <p:nvPr/>
        </p:nvSpPr>
        <p:spPr>
          <a:xfrm>
            <a:off x="7024836" y="4895850"/>
            <a:ext cx="459566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9"/>
          <p:cNvSpPr/>
          <p:nvPr/>
        </p:nvSpPr>
        <p:spPr>
          <a:xfrm>
            <a:off x="571500" y="5495925"/>
            <a:ext cx="242768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9"/>
          <p:cNvSpPr/>
          <p:nvPr/>
        </p:nvSpPr>
        <p:spPr>
          <a:xfrm>
            <a:off x="2999184" y="5495925"/>
            <a:ext cx="402565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9"/>
          <p:cNvSpPr/>
          <p:nvPr/>
        </p:nvSpPr>
        <p:spPr>
          <a:xfrm>
            <a:off x="7024836" y="5495925"/>
            <a:ext cx="459566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9"/>
          <p:cNvSpPr txBox="1"/>
          <p:nvPr/>
        </p:nvSpPr>
        <p:spPr>
          <a:xfrm>
            <a:off x="762000" y="571500"/>
            <a:ext cx="11401425" cy="561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MAPEAMENTO: MARIADB ➜ STG</a:t>
            </a:r>
            <a:endParaRPr dirty="0"/>
          </a:p>
        </p:txBody>
      </p:sp>
      <p:sp>
        <p:nvSpPr>
          <p:cNvPr id="181" name="Google Shape;181;p19"/>
          <p:cNvSpPr/>
          <p:nvPr/>
        </p:nvSpPr>
        <p:spPr>
          <a:xfrm>
            <a:off x="571500" y="571500"/>
            <a:ext cx="57150" cy="56197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966912"/>
            <a:ext cx="11049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295275" y="3395662"/>
            <a:ext cx="116014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VISÃO ARQUITETURAL</a:t>
            </a:r>
            <a:endParaRPr/>
          </a:p>
        </p:txBody>
      </p:sp>
      <p:sp>
        <p:nvSpPr>
          <p:cNvPr id="95" name="Google Shape;95;p14"/>
          <p:cNvSpPr/>
          <p:nvPr/>
        </p:nvSpPr>
        <p:spPr>
          <a:xfrm>
            <a:off x="5619750" y="3957637"/>
            <a:ext cx="952500" cy="3810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2286000" y="4281487"/>
            <a:ext cx="7620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Uma transição fluida entre o processamento transacional local e a inteligência analítica em nuvem.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>
        <p:wipe/>
      </p:transition>
    </mc:Choice>
    <mc:Fallback>
      <p:transition spd="slow">
        <p:wip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8"/>
          <p:cNvPicPr preferRelativeResize="0"/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377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284390" y="1465944"/>
            <a:ext cx="7196728" cy="5021942"/>
          </a:xfrm>
          <a:prstGeom prst="rect">
            <a:avLst/>
          </a:prstGeom>
          <a:noFill/>
          <a:ln>
            <a:noFill/>
          </a:ln>
          <a:effectLst>
            <a:glow rad="495300">
              <a:srgbClr val="00D5FF">
                <a:alpha val="19000"/>
              </a:srgbClr>
            </a:glow>
            <a:softEdge rad="0"/>
          </a:effectLst>
        </p:spPr>
      </p:pic>
      <p:sp>
        <p:nvSpPr>
          <p:cNvPr id="142" name="Google Shape;142;p18"/>
          <p:cNvSpPr txBox="1"/>
          <p:nvPr/>
        </p:nvSpPr>
        <p:spPr>
          <a:xfrm>
            <a:off x="7727643" y="2010818"/>
            <a:ext cx="5540692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FF8A00"/>
                </a:solidFill>
                <a:latin typeface="Outfit"/>
                <a:ea typeface="Outfit"/>
                <a:cs typeface="Outfit"/>
                <a:sym typeface="Outfit"/>
              </a:rPr>
              <a:t>A </a:t>
            </a:r>
            <a:r>
              <a:rPr lang="en-US" sz="2400" b="1" i="0" u="none" strike="noStrike" cap="none" dirty="0" err="1">
                <a:solidFill>
                  <a:srgbClr val="FF8A00"/>
                </a:solidFill>
                <a:latin typeface="Outfit"/>
                <a:ea typeface="Outfit"/>
                <a:cs typeface="Outfit"/>
                <a:sym typeface="Outfit"/>
              </a:rPr>
              <a:t>Refinaria</a:t>
            </a:r>
            <a:r>
              <a:rPr lang="en-US" sz="2400" b="1" i="0" u="none" strike="noStrike" cap="none" dirty="0">
                <a:solidFill>
                  <a:srgbClr val="FF8A00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2400" b="1" i="0" u="none" strike="noStrike" cap="none" dirty="0" err="1">
                <a:solidFill>
                  <a:srgbClr val="FF8A00"/>
                </a:solidFill>
                <a:latin typeface="Outfit"/>
                <a:ea typeface="Outfit"/>
                <a:cs typeface="Outfit"/>
                <a:sym typeface="Outfit"/>
              </a:rPr>
              <a:t>Automática</a:t>
            </a:r>
            <a:endParaRPr dirty="0"/>
          </a:p>
        </p:txBody>
      </p:sp>
      <p:sp>
        <p:nvSpPr>
          <p:cNvPr id="143" name="Google Shape;143;p18"/>
          <p:cNvSpPr txBox="1"/>
          <p:nvPr/>
        </p:nvSpPr>
        <p:spPr>
          <a:xfrm>
            <a:off x="7572375" y="2684313"/>
            <a:ext cx="6667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•</a:t>
            </a:r>
            <a:endParaRPr dirty="0"/>
          </a:p>
        </p:txBody>
      </p:sp>
      <p:sp>
        <p:nvSpPr>
          <p:cNvPr id="144" name="Google Shape;144;p18"/>
          <p:cNvSpPr txBox="1"/>
          <p:nvPr/>
        </p:nvSpPr>
        <p:spPr>
          <a:xfrm>
            <a:off x="7730306" y="2591263"/>
            <a:ext cx="50863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Extração</a:t>
            </a:r>
            <a:r>
              <a:rPr lang="en-US" sz="1650" b="1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: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Conexão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direta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via API.</a:t>
            </a:r>
            <a:endParaRPr dirty="0"/>
          </a:p>
        </p:txBody>
      </p:sp>
      <p:sp>
        <p:nvSpPr>
          <p:cNvPr id="145" name="Google Shape;145;p18"/>
          <p:cNvSpPr txBox="1"/>
          <p:nvPr/>
        </p:nvSpPr>
        <p:spPr>
          <a:xfrm>
            <a:off x="7577153" y="3943202"/>
            <a:ext cx="6667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•</a:t>
            </a:r>
            <a:endParaRPr dirty="0"/>
          </a:p>
        </p:txBody>
      </p:sp>
      <p:sp>
        <p:nvSpPr>
          <p:cNvPr id="146" name="Google Shape;146;p18"/>
          <p:cNvSpPr txBox="1"/>
          <p:nvPr/>
        </p:nvSpPr>
        <p:spPr>
          <a:xfrm>
            <a:off x="7727643" y="3254982"/>
            <a:ext cx="50863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Tratamento</a:t>
            </a:r>
            <a:r>
              <a:rPr lang="en-US" sz="1650" b="1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: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Tradução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e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limpeza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via Polars.</a:t>
            </a:r>
            <a:endParaRPr dirty="0"/>
          </a:p>
        </p:txBody>
      </p:sp>
      <p:sp>
        <p:nvSpPr>
          <p:cNvPr id="147" name="Google Shape;147;p18"/>
          <p:cNvSpPr txBox="1"/>
          <p:nvPr/>
        </p:nvSpPr>
        <p:spPr>
          <a:xfrm>
            <a:off x="7586682" y="3366927"/>
            <a:ext cx="6667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•</a:t>
            </a:r>
            <a:endParaRPr dirty="0"/>
          </a:p>
        </p:txBody>
      </p:sp>
      <p:sp>
        <p:nvSpPr>
          <p:cNvPr id="148" name="Google Shape;148;p18"/>
          <p:cNvSpPr txBox="1"/>
          <p:nvPr/>
        </p:nvSpPr>
        <p:spPr>
          <a:xfrm>
            <a:off x="7727643" y="3813795"/>
            <a:ext cx="50863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Carga: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Inserção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65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otimizada</a:t>
            </a:r>
            <a:r>
              <a:rPr lang="en-US" sz="165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no MySQL.</a:t>
            </a:r>
            <a:endParaRPr dirty="0"/>
          </a:p>
        </p:txBody>
      </p:sp>
      <p:sp>
        <p:nvSpPr>
          <p:cNvPr id="149" name="Google Shape;149;p18"/>
          <p:cNvSpPr txBox="1"/>
          <p:nvPr/>
        </p:nvSpPr>
        <p:spPr>
          <a:xfrm>
            <a:off x="921549" y="481527"/>
            <a:ext cx="11581447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00D4FF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A Jornada do Dado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Google Shape;203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57432" y="3579605"/>
            <a:ext cx="3486150" cy="229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4388" y="3579605"/>
            <a:ext cx="3486150" cy="229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3535756"/>
            <a:ext cx="3486150" cy="2295525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1"/>
          <p:cNvSpPr txBox="1"/>
          <p:nvPr/>
        </p:nvSpPr>
        <p:spPr>
          <a:xfrm>
            <a:off x="1219345" y="3934927"/>
            <a:ext cx="294036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 err="1">
                <a:solidFill>
                  <a:srgbClr val="22D3EE"/>
                </a:solidFill>
                <a:latin typeface="Urbanist"/>
                <a:ea typeface="Urbanist"/>
                <a:cs typeface="Urbanist"/>
                <a:sym typeface="Urbanist"/>
              </a:rPr>
              <a:t>Escalabilidade</a:t>
            </a:r>
            <a:endParaRPr dirty="0"/>
          </a:p>
        </p:txBody>
      </p:sp>
      <p:sp>
        <p:nvSpPr>
          <p:cNvPr id="208" name="Google Shape;208;p21"/>
          <p:cNvSpPr txBox="1"/>
          <p:nvPr/>
        </p:nvSpPr>
        <p:spPr>
          <a:xfrm>
            <a:off x="923925" y="4345382"/>
            <a:ext cx="280035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Supabase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permite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crescimento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elástico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na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nuvem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sem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necessidade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5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gerenciar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infra </a:t>
            </a:r>
            <a:r>
              <a:rPr lang="en-US" sz="15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física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sp>
        <p:nvSpPr>
          <p:cNvPr id="209" name="Google Shape;209;p21"/>
          <p:cNvSpPr txBox="1"/>
          <p:nvPr/>
        </p:nvSpPr>
        <p:spPr>
          <a:xfrm>
            <a:off x="5005312" y="3822385"/>
            <a:ext cx="294036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 err="1">
                <a:solidFill>
                  <a:srgbClr val="22D3EE"/>
                </a:solidFill>
                <a:latin typeface="Urbanist"/>
                <a:ea typeface="Urbanist"/>
                <a:cs typeface="Urbanist"/>
                <a:sym typeface="Urbanist"/>
              </a:rPr>
              <a:t>Segurança</a:t>
            </a:r>
            <a:endParaRPr dirty="0"/>
          </a:p>
        </p:txBody>
      </p:sp>
      <p:sp>
        <p:nvSpPr>
          <p:cNvPr id="210" name="Google Shape;210;p21"/>
          <p:cNvSpPr txBox="1"/>
          <p:nvPr/>
        </p:nvSpPr>
        <p:spPr>
          <a:xfrm>
            <a:off x="4611417" y="4303177"/>
            <a:ext cx="280035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Isolamento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total entre o banco </a:t>
            </a:r>
            <a:r>
              <a:rPr lang="en-US" sz="15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operacional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(MariaDB) e o </a:t>
            </a:r>
            <a:r>
              <a:rPr lang="en-US" sz="15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analítico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(</a:t>
            </a:r>
            <a:r>
              <a:rPr lang="en-US" sz="15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Supabase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).</a:t>
            </a:r>
            <a:endParaRPr dirty="0"/>
          </a:p>
        </p:txBody>
      </p:sp>
      <p:sp>
        <p:nvSpPr>
          <p:cNvPr id="211" name="Google Shape;211;p21"/>
          <p:cNvSpPr txBox="1"/>
          <p:nvPr/>
        </p:nvSpPr>
        <p:spPr>
          <a:xfrm>
            <a:off x="8467725" y="3752044"/>
            <a:ext cx="294036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 err="1">
                <a:solidFill>
                  <a:srgbClr val="22D3EE"/>
                </a:solidFill>
                <a:latin typeface="Urbanist"/>
                <a:ea typeface="Urbanist"/>
                <a:cs typeface="Urbanist"/>
                <a:sym typeface="Urbanist"/>
              </a:rPr>
              <a:t>Manutenibilidade</a:t>
            </a:r>
            <a:endParaRPr dirty="0"/>
          </a:p>
        </p:txBody>
      </p:sp>
      <p:sp>
        <p:nvSpPr>
          <p:cNvPr id="212" name="Google Shape;212;p21"/>
          <p:cNvSpPr txBox="1"/>
          <p:nvPr/>
        </p:nvSpPr>
        <p:spPr>
          <a:xfrm>
            <a:off x="8467725" y="4232834"/>
            <a:ext cx="280035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Módulos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desacoplados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garantem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que </a:t>
            </a:r>
            <a:r>
              <a:rPr lang="en-US" sz="15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erros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em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um </a:t>
            </a:r>
            <a:r>
              <a:rPr lang="en-US" sz="15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ponto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não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derrubem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todo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o </a:t>
            </a:r>
            <a:r>
              <a:rPr lang="en-US" sz="15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sistema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sp>
        <p:nvSpPr>
          <p:cNvPr id="213" name="Google Shape;213;p21"/>
          <p:cNvSpPr txBox="1"/>
          <p:nvPr/>
        </p:nvSpPr>
        <p:spPr>
          <a:xfrm>
            <a:off x="771525" y="581025"/>
            <a:ext cx="560070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Por que esta Arquitetura?</a:t>
            </a:r>
            <a:endParaRPr/>
          </a:p>
        </p:txBody>
      </p:sp>
      <p:sp>
        <p:nvSpPr>
          <p:cNvPr id="214" name="Google Shape;214;p21"/>
          <p:cNvSpPr/>
          <p:nvPr/>
        </p:nvSpPr>
        <p:spPr>
          <a:xfrm>
            <a:off x="581025" y="581025"/>
            <a:ext cx="57150" cy="55245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232;p23">
            <a:extLst>
              <a:ext uri="{FF2B5EF4-FFF2-40B4-BE49-F238E27FC236}">
                <a16:creationId xmlns:a16="http://schemas.microsoft.com/office/drawing/2014/main" id="{2B3FF4A7-60C8-B0DF-C04B-FD3F62CC5FCC}"/>
              </a:ext>
            </a:extLst>
          </p:cNvPr>
          <p:cNvSpPr/>
          <p:nvPr/>
        </p:nvSpPr>
        <p:spPr>
          <a:xfrm>
            <a:off x="557432" y="1865730"/>
            <a:ext cx="57150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231;p23">
            <a:extLst>
              <a:ext uri="{FF2B5EF4-FFF2-40B4-BE49-F238E27FC236}">
                <a16:creationId xmlns:a16="http://schemas.microsoft.com/office/drawing/2014/main" id="{6579BC58-6902-A8BD-2C36-71F209686F5C}"/>
              </a:ext>
            </a:extLst>
          </p:cNvPr>
          <p:cNvSpPr txBox="1"/>
          <p:nvPr/>
        </p:nvSpPr>
        <p:spPr>
          <a:xfrm>
            <a:off x="762000" y="1865727"/>
            <a:ext cx="11401425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BENEFÍCIOS ESTRATÉGICOS</a:t>
            </a:r>
            <a:endParaRPr dirty="0"/>
          </a:p>
        </p:txBody>
      </p:sp>
      <p:pic>
        <p:nvPicPr>
          <p:cNvPr id="4" name="Google Shape;227;p23" descr="image.png">
            <a:extLst>
              <a:ext uri="{FF2B5EF4-FFF2-40B4-BE49-F238E27FC236}">
                <a16:creationId xmlns:a16="http://schemas.microsoft.com/office/drawing/2014/main" id="{C149E8CD-4B53-74AB-944B-93E3BC53CC3F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38588" y="3860627"/>
            <a:ext cx="2667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228;p23" descr="image.png">
            <a:extLst>
              <a:ext uri="{FF2B5EF4-FFF2-40B4-BE49-F238E27FC236}">
                <a16:creationId xmlns:a16="http://schemas.microsoft.com/office/drawing/2014/main" id="{6D693226-02BC-CC20-CBD5-BD47659DA07C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82516" y="3976978"/>
            <a:ext cx="2667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206;p21" descr="image.png">
            <a:extLst>
              <a:ext uri="{FF2B5EF4-FFF2-40B4-BE49-F238E27FC236}">
                <a16:creationId xmlns:a16="http://schemas.microsoft.com/office/drawing/2014/main" id="{217DCF80-3561-27E7-51A6-72CEDF64E8BD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94833" y="933449"/>
            <a:ext cx="3486150" cy="229552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211;p21">
            <a:extLst>
              <a:ext uri="{FF2B5EF4-FFF2-40B4-BE49-F238E27FC236}">
                <a16:creationId xmlns:a16="http://schemas.microsoft.com/office/drawing/2014/main" id="{3256644A-C42A-5CCB-50C6-E93491E4AB2C}"/>
              </a:ext>
            </a:extLst>
          </p:cNvPr>
          <p:cNvSpPr txBox="1"/>
          <p:nvPr/>
        </p:nvSpPr>
        <p:spPr>
          <a:xfrm>
            <a:off x="8948923" y="1166932"/>
            <a:ext cx="294036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dirty="0" err="1">
                <a:solidFill>
                  <a:srgbClr val="22D3EE"/>
                </a:solidFill>
                <a:latin typeface="Urbanist"/>
                <a:ea typeface="Urbanist"/>
                <a:cs typeface="Urbanist"/>
                <a:sym typeface="Urbanist"/>
              </a:rPr>
              <a:t>Automação</a:t>
            </a:r>
            <a:endParaRPr dirty="0"/>
          </a:p>
        </p:txBody>
      </p:sp>
      <p:pic>
        <p:nvPicPr>
          <p:cNvPr id="8" name="Google Shape;230;p23" descr="image.png">
            <a:extLst>
              <a:ext uri="{FF2B5EF4-FFF2-40B4-BE49-F238E27FC236}">
                <a16:creationId xmlns:a16="http://schemas.microsoft.com/office/drawing/2014/main" id="{0A3879DD-2D6A-BA49-6921-993E7F4010A3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360938" y="1143730"/>
            <a:ext cx="394078" cy="35242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212;p21">
            <a:extLst>
              <a:ext uri="{FF2B5EF4-FFF2-40B4-BE49-F238E27FC236}">
                <a16:creationId xmlns:a16="http://schemas.microsoft.com/office/drawing/2014/main" id="{B6886818-BA5B-C83E-5E56-76E6B8D4D31A}"/>
              </a:ext>
            </a:extLst>
          </p:cNvPr>
          <p:cNvSpPr txBox="1"/>
          <p:nvPr/>
        </p:nvSpPr>
        <p:spPr>
          <a:xfrm>
            <a:off x="8591989" y="1599830"/>
            <a:ext cx="2800350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Pipeline </a:t>
            </a:r>
            <a:r>
              <a:rPr lang="en-US" sz="1500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Orquestrado</a:t>
            </a:r>
            <a:r>
              <a:rPr lang="en-US" sz="1500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por</a:t>
            </a:r>
            <a:r>
              <a:rPr lang="en-US" sz="1500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um click </a:t>
            </a:r>
            <a:r>
              <a:rPr lang="en-US" sz="1500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na</a:t>
            </a:r>
            <a:r>
              <a:rPr lang="en-US" sz="1500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interface </a:t>
            </a:r>
            <a:r>
              <a:rPr lang="en-US" sz="1500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Grafica</a:t>
            </a:r>
            <a:r>
              <a:rPr lang="en-US" sz="1500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&amp; </a:t>
            </a:r>
            <a:r>
              <a:rPr lang="en-US" sz="1500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Rastreabilidade</a:t>
            </a:r>
            <a:r>
              <a:rPr lang="en-US" sz="1500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total  </a:t>
            </a:r>
            <a:r>
              <a:rPr lang="en-US" sz="1500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desde</a:t>
            </a:r>
            <a:r>
              <a:rPr lang="en-US" sz="1500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 a </a:t>
            </a:r>
            <a:r>
              <a:rPr lang="en-US" sz="1500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extração</a:t>
            </a:r>
            <a:r>
              <a:rPr lang="en-US" sz="1500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ate a carga Final.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prestige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Google Shape;208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2"/>
          <p:cNvPicPr preferRelativeResize="0"/>
          <p:nvPr/>
        </p:nvPicPr>
        <p:blipFill>
          <a:blip r:embed="rId4"/>
          <a:srcRect/>
          <a:stretch/>
        </p:blipFill>
        <p:spPr>
          <a:xfrm>
            <a:off x="6205611" y="3190662"/>
            <a:ext cx="5800578" cy="3277776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2"/>
          <p:cNvSpPr txBox="1"/>
          <p:nvPr/>
        </p:nvSpPr>
        <p:spPr>
          <a:xfrm>
            <a:off x="571500" y="2247900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Interface desenvolvida com foco na experiência do desenvolvedor e gestor de dados.</a:t>
            </a:r>
            <a:endParaRPr/>
          </a:p>
        </p:txBody>
      </p:sp>
      <p:sp>
        <p:nvSpPr>
          <p:cNvPr id="211" name="Google Shape;211;p22"/>
          <p:cNvSpPr txBox="1"/>
          <p:nvPr/>
        </p:nvSpPr>
        <p:spPr>
          <a:xfrm>
            <a:off x="1028700" y="3143250"/>
            <a:ext cx="44958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Paleta Futurista.</a:t>
            </a:r>
            <a:endParaRPr/>
          </a:p>
        </p:txBody>
      </p:sp>
      <p:sp>
        <p:nvSpPr>
          <p:cNvPr id="212" name="Google Shape;212;p22"/>
          <p:cNvSpPr txBox="1"/>
          <p:nvPr/>
        </p:nvSpPr>
        <p:spPr>
          <a:xfrm>
            <a:off x="1066800" y="3695700"/>
            <a:ext cx="44577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Terminal Visual Integrado.</a:t>
            </a:r>
            <a:endParaRPr/>
          </a:p>
        </p:txBody>
      </p:sp>
      <p:sp>
        <p:nvSpPr>
          <p:cNvPr id="213" name="Google Shape;213;p22"/>
          <p:cNvSpPr txBox="1"/>
          <p:nvPr/>
        </p:nvSpPr>
        <p:spPr>
          <a:xfrm>
            <a:off x="1028700" y="4248150"/>
            <a:ext cx="44958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Processamento em Background.</a:t>
            </a:r>
            <a:endParaRPr/>
          </a:p>
        </p:txBody>
      </p:sp>
      <p:pic>
        <p:nvPicPr>
          <p:cNvPr id="214" name="Google Shape;214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186112"/>
            <a:ext cx="2667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3738562"/>
            <a:ext cx="3048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4291012"/>
            <a:ext cx="26670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22"/>
          <p:cNvSpPr txBox="1"/>
          <p:nvPr/>
        </p:nvSpPr>
        <p:spPr>
          <a:xfrm>
            <a:off x="571500" y="762000"/>
            <a:ext cx="5200650" cy="11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FRONTEND PREMIUM DARK</a:t>
            </a:r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CB2BA895-E9CE-3965-B525-DC06986F41A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05611" y="119658"/>
            <a:ext cx="5800578" cy="2999999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19"/>
          <p:cNvPicPr preferRelativeResize="0"/>
          <p:nvPr/>
        </p:nvPicPr>
        <p:blipFill>
          <a:blip r:embed="rId3"/>
          <a:srcRect/>
          <a:stretch/>
        </p:blipFill>
        <p:spPr>
          <a:xfrm>
            <a:off x="0" y="291747"/>
            <a:ext cx="12192000" cy="62745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7696" y="1184448"/>
            <a:ext cx="5164818" cy="140017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9"/>
          <p:cNvSpPr txBox="1"/>
          <p:nvPr/>
        </p:nvSpPr>
        <p:spPr>
          <a:xfrm>
            <a:off x="771980" y="2196554"/>
            <a:ext cx="30480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D4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Pipeline </a:t>
            </a:r>
            <a:r>
              <a:rPr lang="en-US" sz="1200" b="0" i="0" u="none" strike="noStrike" cap="none" dirty="0" err="1">
                <a:solidFill>
                  <a:srgbClr val="00D4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finalizado</a:t>
            </a:r>
            <a:r>
              <a:rPr lang="en-US" sz="1200" b="0" i="0" u="none" strike="noStrike" cap="none" dirty="0">
                <a:solidFill>
                  <a:srgbClr val="00D4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com </a:t>
            </a:r>
            <a:r>
              <a:rPr lang="en-US" sz="1200" b="0" i="0" u="none" strike="noStrike" cap="none" dirty="0" err="1">
                <a:solidFill>
                  <a:srgbClr val="00D4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sucesso</a:t>
            </a:r>
            <a:r>
              <a:rPr lang="en-US" sz="1200" b="0" i="0" u="none" strike="noStrike" cap="none" dirty="0">
                <a:solidFill>
                  <a:srgbClr val="00D4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</a:t>
            </a:r>
            <a:endParaRPr dirty="0"/>
          </a:p>
        </p:txBody>
      </p:sp>
      <p:sp>
        <p:nvSpPr>
          <p:cNvPr id="157" name="Google Shape;157;p19"/>
          <p:cNvSpPr txBox="1"/>
          <p:nvPr/>
        </p:nvSpPr>
        <p:spPr>
          <a:xfrm>
            <a:off x="6885622" y="1884536"/>
            <a:ext cx="5276850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1" i="0" u="none" strike="noStrike" cap="none" dirty="0">
                <a:solidFill>
                  <a:srgbClr val="00D4FF"/>
                </a:solidFill>
                <a:latin typeface="Outfit"/>
                <a:ea typeface="Outfit"/>
                <a:cs typeface="Outfit"/>
                <a:sym typeface="Outfit"/>
              </a:rPr>
              <a:t>21.55s</a:t>
            </a:r>
            <a:endParaRPr dirty="0"/>
          </a:p>
        </p:txBody>
      </p:sp>
      <p:sp>
        <p:nvSpPr>
          <p:cNvPr id="158" name="Google Shape;158;p19"/>
          <p:cNvSpPr txBox="1"/>
          <p:nvPr/>
        </p:nvSpPr>
        <p:spPr>
          <a:xfrm>
            <a:off x="6915150" y="3542407"/>
            <a:ext cx="52768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FF8A00"/>
                </a:solidFill>
                <a:latin typeface="Outfit"/>
                <a:ea typeface="Outfit"/>
                <a:cs typeface="Outfit"/>
                <a:sym typeface="Outfit"/>
              </a:rPr>
              <a:t>TEMPO TOTAL DE PROCESSAMENTO</a:t>
            </a:r>
            <a:endParaRPr dirty="0"/>
          </a:p>
        </p:txBody>
      </p:sp>
      <p:sp>
        <p:nvSpPr>
          <p:cNvPr id="159" name="Google Shape;159;p19"/>
          <p:cNvSpPr txBox="1"/>
          <p:nvPr/>
        </p:nvSpPr>
        <p:spPr>
          <a:xfrm>
            <a:off x="3777744" y="9674"/>
            <a:ext cx="11581447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 err="1">
                <a:solidFill>
                  <a:srgbClr val="00D4FF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Velocidade</a:t>
            </a:r>
            <a:r>
              <a:rPr lang="en-US" sz="3600" b="0" i="0" u="none" strike="noStrike" cap="none" dirty="0">
                <a:solidFill>
                  <a:srgbClr val="00D4FF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 de </a:t>
            </a:r>
            <a:r>
              <a:rPr lang="en-US" sz="3600" b="0" i="0" u="none" strike="noStrike" cap="none" dirty="0" err="1">
                <a:solidFill>
                  <a:srgbClr val="00D4FF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Processamento</a:t>
            </a:r>
            <a:endParaRPr dirty="0"/>
          </a:p>
        </p:txBody>
      </p:sp>
    </p:spTree>
  </p:cSld>
  <p:clrMapOvr>
    <a:masterClrMapping/>
  </p:clrMapOvr>
  <p:transition spd="slow">
    <p:wip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599283"/>
            <a:ext cx="5276850" cy="2543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599283"/>
            <a:ext cx="5276850" cy="2543175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21"/>
          <p:cNvSpPr txBox="1"/>
          <p:nvPr/>
        </p:nvSpPr>
        <p:spPr>
          <a:xfrm>
            <a:off x="923925" y="2942183"/>
            <a:ext cx="45910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FF8A00"/>
                </a:solidFill>
                <a:latin typeface="Outfit"/>
                <a:ea typeface="Outfit"/>
                <a:cs typeface="Outfit"/>
                <a:sym typeface="Outfit"/>
              </a:rPr>
              <a:t>TAXA DE CONVERSÃO</a:t>
            </a:r>
            <a:endParaRPr/>
          </a:p>
        </p:txBody>
      </p:sp>
      <p:sp>
        <p:nvSpPr>
          <p:cNvPr id="176" name="Google Shape;176;p21"/>
          <p:cNvSpPr txBox="1"/>
          <p:nvPr/>
        </p:nvSpPr>
        <p:spPr>
          <a:xfrm>
            <a:off x="923925" y="3227933"/>
            <a:ext cx="459105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1" i="0" u="none" strike="noStrike" cap="none" dirty="0">
                <a:solidFill>
                  <a:srgbClr val="00D4FF"/>
                </a:solidFill>
                <a:latin typeface="Outfit"/>
                <a:ea typeface="Outfit"/>
                <a:cs typeface="Outfit"/>
                <a:sym typeface="Outfit"/>
              </a:rPr>
              <a:t>63.1%</a:t>
            </a:r>
            <a:endParaRPr dirty="0"/>
          </a:p>
        </p:txBody>
      </p:sp>
      <p:sp>
        <p:nvSpPr>
          <p:cNvPr id="177" name="Google Shape;177;p21"/>
          <p:cNvSpPr txBox="1"/>
          <p:nvPr/>
        </p:nvSpPr>
        <p:spPr>
          <a:xfrm>
            <a:off x="923925" y="4370933"/>
            <a:ext cx="45910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Oportunidades que viraram lucro.</a:t>
            </a:r>
            <a:endParaRPr/>
          </a:p>
        </p:txBody>
      </p:sp>
      <p:sp>
        <p:nvSpPr>
          <p:cNvPr id="178" name="Google Shape;178;p21"/>
          <p:cNvSpPr txBox="1"/>
          <p:nvPr/>
        </p:nvSpPr>
        <p:spPr>
          <a:xfrm>
            <a:off x="6677025" y="2942183"/>
            <a:ext cx="45910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FF8A00"/>
                </a:solidFill>
                <a:latin typeface="Outfit"/>
                <a:ea typeface="Outfit"/>
                <a:cs typeface="Outfit"/>
                <a:sym typeface="Outfit"/>
              </a:rPr>
              <a:t>FATURAMENTO TOTAL</a:t>
            </a:r>
            <a:endParaRPr/>
          </a:p>
        </p:txBody>
      </p:sp>
      <p:sp>
        <p:nvSpPr>
          <p:cNvPr id="179" name="Google Shape;179;p21"/>
          <p:cNvSpPr txBox="1"/>
          <p:nvPr/>
        </p:nvSpPr>
        <p:spPr>
          <a:xfrm>
            <a:off x="6677025" y="3227933"/>
            <a:ext cx="459105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1" i="0" u="none" strike="noStrike" cap="none">
                <a:solidFill>
                  <a:srgbClr val="FF8A00"/>
                </a:solidFill>
                <a:latin typeface="Outfit"/>
                <a:ea typeface="Outfit"/>
                <a:cs typeface="Outfit"/>
                <a:sym typeface="Outfit"/>
              </a:rPr>
              <a:t>$ 6.4M</a:t>
            </a:r>
            <a:endParaRPr/>
          </a:p>
        </p:txBody>
      </p:sp>
      <p:sp>
        <p:nvSpPr>
          <p:cNvPr id="180" name="Google Shape;180;p21"/>
          <p:cNvSpPr txBox="1"/>
          <p:nvPr/>
        </p:nvSpPr>
        <p:spPr>
          <a:xfrm>
            <a:off x="6677025" y="4370933"/>
            <a:ext cx="45910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Volume total de negócios ganhos.</a:t>
            </a:r>
            <a:endParaRPr/>
          </a:p>
        </p:txBody>
      </p:sp>
      <p:sp>
        <p:nvSpPr>
          <p:cNvPr id="181" name="Google Shape;181;p21"/>
          <p:cNvSpPr txBox="1"/>
          <p:nvPr/>
        </p:nvSpPr>
        <p:spPr>
          <a:xfrm>
            <a:off x="581025" y="581025"/>
            <a:ext cx="11581447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00D4FF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Métricas de Sucesso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Google Shape;186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28825" y="2661195"/>
            <a:ext cx="2381250" cy="238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2"/>
          <p:cNvSpPr txBox="1"/>
          <p:nvPr/>
        </p:nvSpPr>
        <p:spPr>
          <a:xfrm>
            <a:off x="6334125" y="3103215"/>
            <a:ext cx="5540692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F8A00"/>
                </a:solidFill>
                <a:latin typeface="Outfit"/>
                <a:ea typeface="Outfit"/>
                <a:cs typeface="Outfit"/>
                <a:sym typeface="Outfit"/>
              </a:rPr>
              <a:t>Relatórios Executivos</a:t>
            </a:r>
            <a:endParaRPr/>
          </a:p>
        </p:txBody>
      </p:sp>
      <p:sp>
        <p:nvSpPr>
          <p:cNvPr id="189" name="Google Shape;189;p22"/>
          <p:cNvSpPr txBox="1"/>
          <p:nvPr/>
        </p:nvSpPr>
        <p:spPr>
          <a:xfrm>
            <a:off x="6334125" y="3581251"/>
            <a:ext cx="5276850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Geração automática de PDFs profissionais em um clique. Pronto para reuniões de diretoria, com gráficos de alta fidelidade e KPIs consolidados.</a:t>
            </a:r>
            <a:endParaRPr/>
          </a:p>
        </p:txBody>
      </p:sp>
      <p:sp>
        <p:nvSpPr>
          <p:cNvPr id="190" name="Google Shape;190;p22"/>
          <p:cNvSpPr txBox="1"/>
          <p:nvPr/>
        </p:nvSpPr>
        <p:spPr>
          <a:xfrm>
            <a:off x="581025" y="581025"/>
            <a:ext cx="11581447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00D4FF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O Gran Finale: Relatórios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1990725"/>
            <a:ext cx="522922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3"/>
          <p:cNvSpPr txBox="1"/>
          <p:nvPr/>
        </p:nvSpPr>
        <p:spPr>
          <a:xfrm>
            <a:off x="581025" y="1990725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22D3EE"/>
                </a:solidFill>
                <a:latin typeface="Urbanist"/>
                <a:ea typeface="Urbanist"/>
                <a:cs typeface="Urbanist"/>
                <a:sym typeface="Urbanist"/>
              </a:rPr>
              <a:t>Evolução da Inteligência</a:t>
            </a:r>
            <a:endParaRPr/>
          </a:p>
        </p:txBody>
      </p:sp>
      <p:pic>
        <p:nvPicPr>
          <p:cNvPr id="233" name="Google Shape;233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91275" y="2000250"/>
            <a:ext cx="5210175" cy="379095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3"/>
          <p:cNvSpPr txBox="1"/>
          <p:nvPr/>
        </p:nvSpPr>
        <p:spPr>
          <a:xfrm>
            <a:off x="638175" y="2411773"/>
            <a:ext cx="522922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67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Refinamento</a:t>
            </a:r>
            <a:r>
              <a:rPr lang="en-US" sz="140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das </a:t>
            </a:r>
            <a:r>
              <a:rPr lang="en-US" sz="140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Regras</a:t>
            </a:r>
            <a:r>
              <a:rPr lang="en-US" sz="140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de </a:t>
            </a:r>
            <a:r>
              <a:rPr lang="en-US" sz="140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Negócio</a:t>
            </a:r>
            <a:endParaRPr dirty="0"/>
          </a:p>
        </p:txBody>
      </p:sp>
      <p:pic>
        <p:nvPicPr>
          <p:cNvPr id="237" name="Google Shape;237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2500312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52450" y="2883619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3163" y="3263739"/>
            <a:ext cx="17145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23"/>
          <p:cNvSpPr txBox="1"/>
          <p:nvPr/>
        </p:nvSpPr>
        <p:spPr>
          <a:xfrm>
            <a:off x="771525" y="581025"/>
            <a:ext cx="44005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A Jornada Continua</a:t>
            </a:r>
            <a:endParaRPr/>
          </a:p>
        </p:txBody>
      </p:sp>
      <p:sp>
        <p:nvSpPr>
          <p:cNvPr id="241" name="Google Shape;241;p23"/>
          <p:cNvSpPr/>
          <p:nvPr/>
        </p:nvSpPr>
        <p:spPr>
          <a:xfrm>
            <a:off x="581025" y="581025"/>
            <a:ext cx="57150" cy="55245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234;p23">
            <a:extLst>
              <a:ext uri="{FF2B5EF4-FFF2-40B4-BE49-F238E27FC236}">
                <a16:creationId xmlns:a16="http://schemas.microsoft.com/office/drawing/2014/main" id="{3E9A1CFD-9E64-3A82-AF7B-66E302D8B2B4}"/>
              </a:ext>
            </a:extLst>
          </p:cNvPr>
          <p:cNvSpPr txBox="1"/>
          <p:nvPr/>
        </p:nvSpPr>
        <p:spPr>
          <a:xfrm>
            <a:off x="651510" y="2777072"/>
            <a:ext cx="522922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67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Implementação</a:t>
            </a:r>
            <a:r>
              <a:rPr lang="en-US" sz="140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do </a:t>
            </a:r>
            <a:r>
              <a:rPr lang="en-US" sz="140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Funil</a:t>
            </a:r>
            <a:r>
              <a:rPr lang="en-US" sz="140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de </a:t>
            </a:r>
            <a:r>
              <a:rPr lang="en-US" sz="140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Vendas</a:t>
            </a:r>
            <a:r>
              <a:rPr lang="en-US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Detalhado</a:t>
            </a:r>
            <a:endParaRPr dirty="0"/>
          </a:p>
        </p:txBody>
      </p:sp>
      <p:sp>
        <p:nvSpPr>
          <p:cNvPr id="3" name="Google Shape;234;p23">
            <a:extLst>
              <a:ext uri="{FF2B5EF4-FFF2-40B4-BE49-F238E27FC236}">
                <a16:creationId xmlns:a16="http://schemas.microsoft.com/office/drawing/2014/main" id="{7DC9F291-35A2-8D38-BB5E-7211F380DDDD}"/>
              </a:ext>
            </a:extLst>
          </p:cNvPr>
          <p:cNvSpPr txBox="1"/>
          <p:nvPr/>
        </p:nvSpPr>
        <p:spPr>
          <a:xfrm>
            <a:off x="666035" y="3155303"/>
            <a:ext cx="5229225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6700" tIns="0" rIns="0" bIns="0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140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Análise Preditiva de </a:t>
            </a:r>
            <a:r>
              <a:rPr lang="pt-BR" sz="1400" b="0" i="0" u="none" strike="noStrike" cap="none" dirty="0" err="1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Churn</a:t>
            </a:r>
            <a:r>
              <a:rPr lang="pt-BR" sz="1400" b="0" i="0" u="none" strike="noStrike" cap="none" dirty="0">
                <a:solidFill>
                  <a:srgbClr val="A1A1A1"/>
                </a:solidFill>
                <a:latin typeface="Outfit"/>
                <a:ea typeface="Outfit"/>
                <a:cs typeface="Outfit"/>
                <a:sym typeface="Outfit"/>
              </a:rPr>
              <a:t> e Tendências.</a:t>
            </a:r>
            <a:endParaRPr lang="pt-BR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0"/>
          <p:cNvPicPr preferRelativeResize="0"/>
          <p:nvPr/>
        </p:nvPicPr>
        <p:blipFill>
          <a:blip r:embed="rId3"/>
          <a:srcRect/>
          <a:stretch/>
        </p:blipFill>
        <p:spPr>
          <a:xfrm>
            <a:off x="0" y="3345"/>
            <a:ext cx="12192000" cy="6851309"/>
          </a:xfrm>
          <a:prstGeom prst="rect">
            <a:avLst/>
          </a:prstGeom>
          <a:noFill/>
          <a:ln>
            <a:noFill/>
          </a:ln>
          <a:effectLst>
            <a:glow rad="508000">
              <a:schemeClr val="accent1">
                <a:alpha val="26000"/>
              </a:schemeClr>
            </a:glow>
          </a:effectLst>
        </p:spPr>
      </p:pic>
      <p:sp>
        <p:nvSpPr>
          <p:cNvPr id="166" name="Google Shape;166;p20"/>
          <p:cNvSpPr txBox="1"/>
          <p:nvPr/>
        </p:nvSpPr>
        <p:spPr>
          <a:xfrm>
            <a:off x="143057" y="2648456"/>
            <a:ext cx="5000625" cy="15234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 dirty="0" err="1">
                <a:solidFill>
                  <a:srgbClr val="00B0F0"/>
                </a:solidFill>
                <a:latin typeface="Outfit"/>
                <a:ea typeface="Outfit"/>
                <a:cs typeface="Outfit"/>
                <a:sym typeface="Outfit"/>
              </a:rPr>
              <a:t>Visão</a:t>
            </a:r>
            <a:r>
              <a:rPr lang="en-US" sz="4500" b="1" i="0" u="none" strike="noStrike" cap="none" dirty="0">
                <a:solidFill>
                  <a:srgbClr val="00B0F0"/>
                </a:solidFill>
                <a:latin typeface="Outfit"/>
                <a:ea typeface="Outfit"/>
                <a:cs typeface="Outfit"/>
                <a:sym typeface="Outfit"/>
              </a:rPr>
              <a:t> 360º do </a:t>
            </a:r>
            <a:r>
              <a:rPr lang="en-US" sz="4500" b="1" i="0" u="none" strike="noStrike" cap="none" dirty="0" err="1">
                <a:solidFill>
                  <a:srgbClr val="00B0F0"/>
                </a:solidFill>
                <a:latin typeface="Outfit"/>
                <a:ea typeface="Outfit"/>
                <a:cs typeface="Outfit"/>
                <a:sym typeface="Outfit"/>
              </a:rPr>
              <a:t>Negócio</a:t>
            </a:r>
            <a:endParaRPr dirty="0">
              <a:solidFill>
                <a:srgbClr val="00B0F0"/>
              </a:solidFill>
            </a:endParaRPr>
          </a:p>
        </p:txBody>
      </p:sp>
      <p:sp>
        <p:nvSpPr>
          <p:cNvPr id="167" name="Google Shape;167;p20"/>
          <p:cNvSpPr txBox="1"/>
          <p:nvPr/>
        </p:nvSpPr>
        <p:spPr>
          <a:xfrm>
            <a:off x="143057" y="4439236"/>
            <a:ext cx="47625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0D4FF"/>
                </a:solidFill>
                <a:latin typeface="Outfit"/>
                <a:ea typeface="Outfit"/>
                <a:cs typeface="Outfit"/>
                <a:sym typeface="Outfit"/>
              </a:rPr>
              <a:t>Dashboards </a:t>
            </a:r>
            <a:r>
              <a:rPr lang="en-US" sz="1800" b="1" i="0" u="none" strike="noStrike" cap="none" dirty="0" err="1">
                <a:solidFill>
                  <a:srgbClr val="00D4FF"/>
                </a:solidFill>
                <a:latin typeface="Outfit"/>
                <a:ea typeface="Outfit"/>
                <a:cs typeface="Outfit"/>
                <a:sym typeface="Outfit"/>
              </a:rPr>
              <a:t>Intuitivos</a:t>
            </a:r>
            <a:r>
              <a:rPr lang="en-US" sz="1800" b="1" i="0" u="none" strike="noStrike" cap="none" dirty="0">
                <a:solidFill>
                  <a:srgbClr val="00D4FF"/>
                </a:solidFill>
                <a:latin typeface="Outfit"/>
                <a:ea typeface="Outfit"/>
                <a:cs typeface="Outfit"/>
                <a:sym typeface="Outfit"/>
              </a:rPr>
              <a:t> e </a:t>
            </a:r>
            <a:r>
              <a:rPr lang="en-US" sz="1800" b="1" i="0" u="none" strike="noStrike" cap="none" dirty="0" err="1">
                <a:solidFill>
                  <a:srgbClr val="00D4FF"/>
                </a:solidFill>
                <a:latin typeface="Outfit"/>
                <a:ea typeface="Outfit"/>
                <a:cs typeface="Outfit"/>
                <a:sym typeface="Outfit"/>
              </a:rPr>
              <a:t>Dinâmicos</a:t>
            </a:r>
            <a:r>
              <a:rPr lang="en-US" sz="1800" b="1" i="0" u="none" strike="noStrike" cap="none" dirty="0">
                <a:solidFill>
                  <a:srgbClr val="00D4FF"/>
                </a:solidFill>
                <a:latin typeface="Outfit"/>
                <a:ea typeface="Outfit"/>
                <a:cs typeface="Outfit"/>
                <a:sym typeface="Outfit"/>
              </a:rPr>
              <a:t>.</a:t>
            </a:r>
            <a:endParaRPr dirty="0"/>
          </a:p>
        </p:txBody>
      </p:sp>
    </p:spTree>
  </p:cSld>
  <p:clrMapOvr>
    <a:masterClrMapping/>
  </p:clrMapOvr>
  <p:transition spd="slow">
    <p:wip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6" name="Google Shape;246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39700" y="-101601"/>
            <a:ext cx="12561472" cy="710731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24"/>
          <p:cNvSpPr txBox="1"/>
          <p:nvPr/>
        </p:nvSpPr>
        <p:spPr>
          <a:xfrm>
            <a:off x="305276" y="1562100"/>
            <a:ext cx="11581447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A3E635"/>
                </a:solidFill>
                <a:latin typeface="Urbanist"/>
                <a:ea typeface="Urbanist"/>
                <a:cs typeface="Urbanist"/>
                <a:sym typeface="Urbanist"/>
              </a:rPr>
              <a:t>Dúvidas?</a:t>
            </a:r>
            <a:endParaRPr/>
          </a:p>
        </p:txBody>
      </p:sp>
      <p:sp>
        <p:nvSpPr>
          <p:cNvPr id="248" name="Google Shape;248;p24"/>
          <p:cNvSpPr txBox="1"/>
          <p:nvPr/>
        </p:nvSpPr>
        <p:spPr>
          <a:xfrm>
            <a:off x="581025" y="2514600"/>
            <a:ext cx="110299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Acesse o projeto completo no GitHub</a:t>
            </a:r>
            <a:endParaRPr/>
          </a:p>
        </p:txBody>
      </p:sp>
      <p:sp>
        <p:nvSpPr>
          <p:cNvPr id="249" name="Google Shape;249;p24"/>
          <p:cNvSpPr txBox="1"/>
          <p:nvPr/>
        </p:nvSpPr>
        <p:spPr>
          <a:xfrm>
            <a:off x="6184900" y="4599330"/>
            <a:ext cx="3368674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400" b="0" i="0" u="none" strike="noStrike" cap="none" dirty="0">
                <a:solidFill>
                  <a:srgbClr val="00D4FF"/>
                </a:solidFill>
                <a:latin typeface="Outfit"/>
                <a:ea typeface="Outfit"/>
                <a:cs typeface="Outfit"/>
                <a:sym typeface="Outfit"/>
              </a:rPr>
              <a:t>https://github.com/PollyAzeve/-Projeto-Integrador---ETL-e-An-lise-de-Dados</a:t>
            </a:r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250" name="Google Shape;250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48150" y="3609536"/>
            <a:ext cx="4572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24"/>
          <p:cNvSpPr txBox="1"/>
          <p:nvPr/>
        </p:nvSpPr>
        <p:spPr>
          <a:xfrm>
            <a:off x="3238500" y="4162425"/>
            <a:ext cx="24765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Backend/ETL</a:t>
            </a:r>
            <a:endParaRPr dirty="0"/>
          </a:p>
        </p:txBody>
      </p:sp>
      <p:pic>
        <p:nvPicPr>
          <p:cNvPr id="252" name="Google Shape;252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486650" y="3609536"/>
            <a:ext cx="4572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24"/>
          <p:cNvSpPr txBox="1"/>
          <p:nvPr/>
        </p:nvSpPr>
        <p:spPr>
          <a:xfrm>
            <a:off x="6477000" y="4152900"/>
            <a:ext cx="24765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Analytics/BI</a:t>
            </a:r>
            <a:endParaRPr/>
          </a:p>
        </p:txBody>
      </p:sp>
      <p:sp>
        <p:nvSpPr>
          <p:cNvPr id="2" name="Google Shape;249;p24">
            <a:extLst>
              <a:ext uri="{FF2B5EF4-FFF2-40B4-BE49-F238E27FC236}">
                <a16:creationId xmlns:a16="http://schemas.microsoft.com/office/drawing/2014/main" id="{DDA0A826-46D7-93CD-3FEF-55D8F0CEEEDD}"/>
              </a:ext>
            </a:extLst>
          </p:cNvPr>
          <p:cNvSpPr txBox="1"/>
          <p:nvPr/>
        </p:nvSpPr>
        <p:spPr>
          <a:xfrm>
            <a:off x="2727326" y="4608855"/>
            <a:ext cx="3368674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400" b="0" i="0" u="none" strike="noStrike" cap="none" dirty="0">
                <a:solidFill>
                  <a:srgbClr val="00D4FF"/>
                </a:solidFill>
                <a:latin typeface="Outfit"/>
                <a:ea typeface="Outfit"/>
                <a:cs typeface="Outfit"/>
                <a:sym typeface="Outfit"/>
              </a:rPr>
              <a:t>https://github.com/emerson-jose/projeto-integrador-etl </a:t>
            </a:r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249;p24">
            <a:extLst>
              <a:ext uri="{FF2B5EF4-FFF2-40B4-BE49-F238E27FC236}">
                <a16:creationId xmlns:a16="http://schemas.microsoft.com/office/drawing/2014/main" id="{D9C19F00-756C-33F0-D01D-D50E1FB8FCA1}"/>
              </a:ext>
            </a:extLst>
          </p:cNvPr>
          <p:cNvSpPr txBox="1"/>
          <p:nvPr/>
        </p:nvSpPr>
        <p:spPr>
          <a:xfrm>
            <a:off x="305276" y="5443756"/>
            <a:ext cx="110299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22D3EE"/>
                </a:solidFill>
                <a:latin typeface="Urbanist"/>
                <a:ea typeface="Urbanist"/>
                <a:cs typeface="Urbanist"/>
                <a:sym typeface="Urbanist"/>
              </a:rPr>
              <a:t>Obrigado</a:t>
            </a:r>
            <a:r>
              <a:rPr lang="en-US" sz="1500" b="0" i="0" u="none" strike="noStrike" cap="none" dirty="0">
                <a:solidFill>
                  <a:srgbClr val="22D3EE"/>
                </a:solidFill>
                <a:latin typeface="Urbanist"/>
                <a:ea typeface="Urbanist"/>
                <a:cs typeface="Urbanist"/>
                <a:sym typeface="Urbanist"/>
              </a:rPr>
              <a:t> pela </a:t>
            </a:r>
            <a:r>
              <a:rPr lang="en-US" sz="1500" b="0" i="0" u="none" strike="noStrike" cap="none" dirty="0" err="1">
                <a:solidFill>
                  <a:srgbClr val="22D3EE"/>
                </a:solidFill>
                <a:latin typeface="Urbanist"/>
                <a:ea typeface="Urbanist"/>
                <a:cs typeface="Urbanist"/>
                <a:sym typeface="Urbanist"/>
              </a:rPr>
              <a:t>atenção</a:t>
            </a:r>
            <a:r>
              <a:rPr lang="en-US" sz="1500" b="0" i="0" u="none" strike="noStrike" cap="none" dirty="0">
                <a:solidFill>
                  <a:srgbClr val="22D3EE"/>
                </a:solidFill>
                <a:latin typeface="Urbanist"/>
                <a:ea typeface="Urbanist"/>
                <a:cs typeface="Urbanist"/>
                <a:sym typeface="Urbanist"/>
              </a:rPr>
              <a:t>!</a:t>
            </a:r>
            <a:endParaRPr dirty="0"/>
          </a:p>
        </p:txBody>
      </p:sp>
      <p:pic>
        <p:nvPicPr>
          <p:cNvPr id="4" name="Google Shape;213;p24" descr="image.png">
            <a:extLst>
              <a:ext uri="{FF2B5EF4-FFF2-40B4-BE49-F238E27FC236}">
                <a16:creationId xmlns:a16="http://schemas.microsoft.com/office/drawing/2014/main" id="{9D3A278E-1D5E-74B4-3499-094CC57C3E97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933066" y="4724919"/>
            <a:ext cx="1905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213;p24" descr="image.png">
            <a:extLst>
              <a:ext uri="{FF2B5EF4-FFF2-40B4-BE49-F238E27FC236}">
                <a16:creationId xmlns:a16="http://schemas.microsoft.com/office/drawing/2014/main" id="{8C0C5BB1-64EF-5086-E84F-40FB5009E34B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30266" y="4737619"/>
            <a:ext cx="190500" cy="15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8" name="Google Shape;218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24732" y="-2540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5"/>
          <p:cNvSpPr/>
          <p:nvPr/>
        </p:nvSpPr>
        <p:spPr>
          <a:xfrm>
            <a:off x="581025" y="2718345"/>
            <a:ext cx="110299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5"/>
          <p:cNvSpPr/>
          <p:nvPr/>
        </p:nvSpPr>
        <p:spPr>
          <a:xfrm>
            <a:off x="581025" y="3489870"/>
            <a:ext cx="110299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5"/>
          <p:cNvSpPr/>
          <p:nvPr/>
        </p:nvSpPr>
        <p:spPr>
          <a:xfrm>
            <a:off x="581025" y="3480345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5"/>
          <p:cNvSpPr/>
          <p:nvPr/>
        </p:nvSpPr>
        <p:spPr>
          <a:xfrm>
            <a:off x="581025" y="3480345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5"/>
          <p:cNvSpPr/>
          <p:nvPr/>
        </p:nvSpPr>
        <p:spPr>
          <a:xfrm>
            <a:off x="581025" y="4251870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5"/>
          <p:cNvSpPr/>
          <p:nvPr/>
        </p:nvSpPr>
        <p:spPr>
          <a:xfrm>
            <a:off x="581025" y="4251870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25"/>
          <p:cNvSpPr txBox="1"/>
          <p:nvPr/>
        </p:nvSpPr>
        <p:spPr>
          <a:xfrm>
            <a:off x="1958975" y="2684554"/>
            <a:ext cx="993457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>
                <a:solidFill>
                  <a:schemeClr val="bg1"/>
                </a:solidFill>
              </a:rPr>
              <a:t>https://github.com/emerson-jose/projeto-integrador-etl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29" name="Google Shape;229;p25"/>
          <p:cNvSpPr txBox="1"/>
          <p:nvPr/>
        </p:nvSpPr>
        <p:spPr>
          <a:xfrm>
            <a:off x="2009775" y="3660442"/>
            <a:ext cx="993457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>
                <a:solidFill>
                  <a:schemeClr val="bg1"/>
                </a:solidFill>
              </a:rPr>
              <a:t>https://github.com/PollyAzeve/-Projeto-Integrador---ETL-e-An-lise-de-Dados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231" name="Google Shape;231;p25"/>
          <p:cNvPicPr preferRelativeResize="0"/>
          <p:nvPr/>
        </p:nvPicPr>
        <p:blipFill>
          <a:blip r:embed="rId4"/>
          <a:srcRect/>
          <a:stretch/>
        </p:blipFill>
        <p:spPr>
          <a:xfrm>
            <a:off x="882717" y="2578635"/>
            <a:ext cx="704783" cy="609398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5"/>
          <p:cNvSpPr txBox="1"/>
          <p:nvPr/>
        </p:nvSpPr>
        <p:spPr>
          <a:xfrm>
            <a:off x="1898650" y="4404270"/>
            <a:ext cx="993457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 dirty="0">
                <a:solidFill>
                  <a:schemeClr val="bg1"/>
                </a:solidFill>
                <a:latin typeface="Outfit"/>
                <a:ea typeface="Outfit"/>
                <a:cs typeface="Outfit"/>
                <a:sym typeface="Outfit"/>
              </a:rPr>
              <a:t>. https://mavenanalytics.io/data-playground/crm-sales-opportunities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34" name="Google Shape;234;p25"/>
          <p:cNvSpPr txBox="1"/>
          <p:nvPr/>
        </p:nvSpPr>
        <p:spPr>
          <a:xfrm>
            <a:off x="581025" y="581025"/>
            <a:ext cx="11581447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rgbClr val="00D4FF"/>
                </a:solidFill>
                <a:latin typeface="Outfit SemiBold"/>
                <a:sym typeface="Outfit SemiBold"/>
              </a:rPr>
              <a:t>Links </a:t>
            </a:r>
            <a:endParaRPr dirty="0"/>
          </a:p>
        </p:txBody>
      </p:sp>
      <p:pic>
        <p:nvPicPr>
          <p:cNvPr id="2" name="Google Shape;231;p25">
            <a:extLst>
              <a:ext uri="{FF2B5EF4-FFF2-40B4-BE49-F238E27FC236}">
                <a16:creationId xmlns:a16="http://schemas.microsoft.com/office/drawing/2014/main" id="{86CC8C6C-B48F-A006-2A4A-A00136CD5BBC}"/>
              </a:ext>
            </a:extLst>
          </p:cNvPr>
          <p:cNvPicPr preferRelativeResize="0"/>
          <p:nvPr/>
        </p:nvPicPr>
        <p:blipFill>
          <a:blip r:embed="rId4"/>
          <a:srcRect/>
          <a:stretch/>
        </p:blipFill>
        <p:spPr>
          <a:xfrm>
            <a:off x="889661" y="3570560"/>
            <a:ext cx="697839" cy="53843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133;p17" descr="image.png">
            <a:extLst>
              <a:ext uri="{FF2B5EF4-FFF2-40B4-BE49-F238E27FC236}">
                <a16:creationId xmlns:a16="http://schemas.microsoft.com/office/drawing/2014/main" id="{8A1D460C-271F-6182-4DB0-30C865BA923A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73100" y="4433540"/>
            <a:ext cx="371475" cy="428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685</TotalTime>
  <Words>799</Words>
  <Application>Microsoft Office PowerPoint</Application>
  <PresentationFormat>Widescreen</PresentationFormat>
  <Paragraphs>132</Paragraphs>
  <Slides>22</Slides>
  <Notes>22</Notes>
  <HiddenSlides>0</HiddenSlides>
  <MMClips>0</MMClips>
  <ScaleCrop>false</ScaleCrop>
  <HeadingPairs>
    <vt:vector size="6" baseType="variant">
      <vt:variant>
        <vt:lpstr>Fontes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22</vt:i4>
      </vt:variant>
    </vt:vector>
  </HeadingPairs>
  <TitlesOfParts>
    <vt:vector size="33" baseType="lpstr">
      <vt:lpstr>Inter Medium</vt:lpstr>
      <vt:lpstr>Arial</vt:lpstr>
      <vt:lpstr>Outfit</vt:lpstr>
      <vt:lpstr>Outfit Light</vt:lpstr>
      <vt:lpstr>Calibri</vt:lpstr>
      <vt:lpstr>Inter</vt:lpstr>
      <vt:lpstr>Urbanist Medium</vt:lpstr>
      <vt:lpstr>Outfit SemiBold</vt:lpstr>
      <vt:lpstr>Urbanist</vt:lpstr>
      <vt:lpstr>JetBrains Mono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DELL</cp:lastModifiedBy>
  <cp:revision>21</cp:revision>
  <dcterms:modified xsi:type="dcterms:W3CDTF">2026-06-02T21:19:01Z</dcterms:modified>
</cp:coreProperties>
</file>