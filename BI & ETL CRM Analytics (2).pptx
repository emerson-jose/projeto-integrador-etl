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79" r:id="rId9"/>
    <p:sldId id="271" r:id="rId10"/>
    <p:sldId id="272" r:id="rId11"/>
    <p:sldId id="274" r:id="rId12"/>
    <p:sldId id="273" r:id="rId13"/>
    <p:sldId id="261" r:id="rId14"/>
    <p:sldId id="275" r:id="rId15"/>
    <p:sldId id="262" r:id="rId16"/>
    <p:sldId id="263" r:id="rId17"/>
    <p:sldId id="264" r:id="rId18"/>
    <p:sldId id="265" r:id="rId19"/>
    <p:sldId id="277" r:id="rId20"/>
    <p:sldId id="278" r:id="rId21"/>
    <p:sldId id="268" r:id="rId22"/>
  </p:sldIdLst>
  <p:sldSz cx="12192000" cy="6858000"/>
  <p:notesSz cx="6858000" cy="9144000"/>
  <p:embeddedFontLs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Inter Medium" panose="020B0604020202020204" charset="0"/>
      <p:regular r:id="rId28"/>
      <p:bold r:id="rId29"/>
      <p:italic r:id="rId30"/>
      <p:boldItalic r:id="rId31"/>
    </p:embeddedFont>
    <p:embeddedFont>
      <p:font typeface="JetBrains Mono" panose="020B0604020202020204" charset="0"/>
      <p:regular r:id="rId32"/>
      <p:bold r:id="rId33"/>
      <p:italic r:id="rId34"/>
      <p:boldItalic r:id="rId35"/>
    </p:embeddedFont>
    <p:embeddedFont>
      <p:font typeface="Outfit" panose="020B0604020202020204" charset="0"/>
      <p:regular r:id="rId36"/>
      <p:bold r:id="rId37"/>
    </p:embeddedFont>
    <p:embeddedFont>
      <p:font typeface="Outfit Light" panose="020B0604020202020204" charset="0"/>
      <p:regular r:id="rId38"/>
      <p:bold r:id="rId39"/>
    </p:embeddedFont>
    <p:embeddedFont>
      <p:font typeface="Outfit SemiBold" panose="020B0604020202020204" charset="0"/>
      <p:regular r:id="rId40"/>
      <p:bold r:id="rId41"/>
    </p:embeddedFont>
    <p:embeddedFont>
      <p:font typeface="Urbanist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Padrão" id="{9ED058E5-AC5A-49E1-BEED-055A7B15797B}">
          <p14:sldIdLst>
            <p14:sldId id="256"/>
            <p14:sldId id="257"/>
            <p14:sldId id="258"/>
            <p14:sldId id="259"/>
            <p14:sldId id="269"/>
            <p14:sldId id="270"/>
            <p14:sldId id="260"/>
            <p14:sldId id="279"/>
            <p14:sldId id="271"/>
            <p14:sldId id="272"/>
            <p14:sldId id="274"/>
            <p14:sldId id="273"/>
            <p14:sldId id="261"/>
            <p14:sldId id="275"/>
            <p14:sldId id="262"/>
          </p14:sldIdLst>
        </p14:section>
        <p14:section name="Seção sem Título" id="{4A23F183-D47D-4DA6-A4EC-BA86624D6EF5}">
          <p14:sldIdLst>
            <p14:sldId id="263"/>
            <p14:sldId id="264"/>
            <p14:sldId id="265"/>
            <p14:sldId id="277"/>
            <p14:sldId id="278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5FF"/>
    <a:srgbClr val="00D4FF"/>
    <a:srgbClr val="FF8A00"/>
    <a:srgbClr val="111111"/>
    <a:srgbClr val="9D5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25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238375"/>
            <a:ext cx="11581447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CRM </a:t>
            </a:r>
            <a:r>
              <a:rPr lang="en-US" sz="6000" b="1" i="0" u="none" strike="noStrike" cap="none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Intelligence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Solution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105275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66666"/>
                </a:solidFill>
                <a:latin typeface="Outfit Light"/>
                <a:ea typeface="Outfit Light"/>
                <a:cs typeface="Outfit Light"/>
                <a:sym typeface="Outfit Light"/>
              </a:rPr>
              <a:t>Automação BI &amp; ETL: Transformando dados em decisões estratégicas.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69790"/>
            <a:ext cx="5276850" cy="30021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69790"/>
            <a:ext cx="5276850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23925" y="3493740"/>
            <a:ext cx="4820602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Emerson José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23925" y="3971776"/>
            <a:ext cx="45910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Responsável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pela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Arquitetura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Dados &amp;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Engenharia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ETL.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Construiu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o motor de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processamento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ultrarrápido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3493740"/>
            <a:ext cx="4820602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Poliana Azevedo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971776"/>
            <a:ext cx="4591050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Responsável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pelas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Regras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Negócio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Criação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do Banco de Dados &amp; Analytics.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Traduz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números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em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inteligência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competitiva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2769840"/>
            <a:ext cx="428625" cy="428625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76984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Os Arquitetos da Solução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3587" y="1997571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595437" y="2854821"/>
            <a:ext cx="9001125" cy="2005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rPr>
              <a:t>"Dados sem tratamento são apenas </a:t>
            </a:r>
            <a:r>
              <a:rPr lang="en-US" sz="4050" b="1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ruído</a:t>
            </a:r>
            <a:r>
              <a:rPr lang="en-US" sz="4050" b="0" i="0" u="none" strike="noStrike" cap="none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rPr>
              <a:t>. Inteligência é o que sobra após a refinaria."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19112" y="1985753"/>
            <a:ext cx="519064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F8A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Fonte de Dados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519112" y="2715643"/>
            <a:ext cx="519064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Dataset: Predictive CRM</a:t>
            </a:r>
            <a:endParaRPr dirty="0"/>
          </a:p>
        </p:txBody>
      </p:sp>
      <p:sp>
        <p:nvSpPr>
          <p:cNvPr id="115" name="Google Shape;115;p16"/>
          <p:cNvSpPr txBox="1"/>
          <p:nvPr/>
        </p:nvSpPr>
        <p:spPr>
          <a:xfrm>
            <a:off x="333852" y="3419326"/>
            <a:ext cx="5312205" cy="1465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Extração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automatizada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via Kaggle API &amp; Web Scraping .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Trabalhamos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com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uma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base real de CRM para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simular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desafios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complexos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vendas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e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conversão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4"/>
          <a:srcRect/>
          <a:stretch/>
        </p:blipFill>
        <p:spPr>
          <a:xfrm>
            <a:off x="5615101" y="916476"/>
            <a:ext cx="6243047" cy="500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333852" y="4656512"/>
            <a:ext cx="4943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agungpambudi</a:t>
            </a:r>
            <a:r>
              <a:rPr lang="en-US" sz="1200" b="0" i="0" u="none" strike="noStrike" cap="none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200" b="0" i="0" u="none" strike="noStrike" cap="none" dirty="0" err="1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crm</a:t>
            </a:r>
            <a:r>
              <a:rPr lang="en-US" sz="1200" b="0" i="0" u="none" strike="noStrike" cap="none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-sales-predictive-analytics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18394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ECOSSISTEMA </a:t>
            </a:r>
            <a:r>
              <a:rPr lang="en-US" sz="7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ETL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7094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MARIADB ➜ SUPABASE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4430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Integração Analítica e Arquitetura de Dados Profissional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11049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3395662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VISÃO ARQUITETURAL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619750" y="39576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281487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Uma transição fluida entre o processamento transacional local e a inteligência analítica em nuvem.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528" y="-635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69790"/>
            <a:ext cx="3622625" cy="3624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369789"/>
            <a:ext cx="3517850" cy="3624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369789"/>
            <a:ext cx="3517850" cy="36246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923925" y="3493740"/>
            <a:ext cx="2973652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Polars &amp; Pandas</a:t>
            </a:r>
            <a:endParaRPr lang="en-US" dirty="0"/>
          </a:p>
        </p:txBody>
      </p:sp>
      <p:sp>
        <p:nvSpPr>
          <p:cNvPr id="128" name="Google Shape;128;p17"/>
          <p:cNvSpPr txBox="1"/>
          <p:nvPr/>
        </p:nvSpPr>
        <p:spPr>
          <a:xfrm>
            <a:off x="4679900" y="3493740"/>
            <a:ext cx="297365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MySQL &amp; </a:t>
            </a:r>
            <a:r>
              <a:rPr lang="en-US" sz="2400" b="1" dirty="0" err="1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Suparbase</a:t>
            </a:r>
            <a:r>
              <a:rPr lang="en-US" sz="2400" b="1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dirty="0"/>
          </a:p>
        </p:txBody>
      </p:sp>
      <p:sp>
        <p:nvSpPr>
          <p:cNvPr id="129" name="Google Shape;129;p17"/>
          <p:cNvSpPr txBox="1"/>
          <p:nvPr/>
        </p:nvSpPr>
        <p:spPr>
          <a:xfrm>
            <a:off x="4921205" y="4033219"/>
            <a:ext cx="28320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Armazenamento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colunar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híbrido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com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persistência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relacional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robusta.</a:t>
            </a:r>
            <a:endParaRPr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8435875" y="3493740"/>
            <a:ext cx="297365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PDF &amp; Seaborn</a:t>
            </a:r>
            <a:endParaRPr dirty="0"/>
          </a:p>
        </p:txBody>
      </p:sp>
      <p:sp>
        <p:nvSpPr>
          <p:cNvPr id="131" name="Google Shape;131;p17"/>
          <p:cNvSpPr txBox="1"/>
          <p:nvPr/>
        </p:nvSpPr>
        <p:spPr>
          <a:xfrm>
            <a:off x="8435875" y="3971776"/>
            <a:ext cx="28320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Geração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dinâmica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relatórios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com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estética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premium.</a:t>
            </a:r>
            <a:endParaRPr dirty="0"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769840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9900" y="2769840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5875" y="276984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581025"/>
            <a:ext cx="1158144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Stack </a:t>
            </a:r>
            <a:r>
              <a:rPr lang="en-US" sz="3600" dirty="0" err="1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Tecnológica</a:t>
            </a:r>
            <a:r>
              <a:rPr lang="en-US" sz="3600" dirty="0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de</a:t>
            </a:r>
            <a:r>
              <a:rPr lang="en-US" sz="3600" b="0" i="0" u="none" strike="noStrike" cap="none" dirty="0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Alta Performance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B9FD75-47EF-3AA1-DA39-0E88A397962F}"/>
              </a:ext>
            </a:extLst>
          </p:cNvPr>
          <p:cNvSpPr txBox="1"/>
          <p:nvPr/>
        </p:nvSpPr>
        <p:spPr>
          <a:xfrm>
            <a:off x="842073" y="3900005"/>
            <a:ext cx="29736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 </a:t>
            </a:r>
            <a:r>
              <a:rPr lang="pt-BR" sz="1400" b="1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Python 3.11+:</a:t>
            </a: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 Motor do pipeline.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1F5510-33C2-1955-80B6-3C9AB8096C21}"/>
              </a:ext>
            </a:extLst>
          </p:cNvPr>
          <p:cNvSpPr txBox="1"/>
          <p:nvPr/>
        </p:nvSpPr>
        <p:spPr>
          <a:xfrm flipH="1" flipV="1">
            <a:off x="-4774561" y="2608573"/>
            <a:ext cx="2305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 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823081-1D04-0CE5-6545-92B7D32440A6}"/>
              </a:ext>
            </a:extLst>
          </p:cNvPr>
          <p:cNvSpPr txBox="1"/>
          <p:nvPr/>
        </p:nvSpPr>
        <p:spPr>
          <a:xfrm>
            <a:off x="2882585" y="2431230"/>
            <a:ext cx="6115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 </a:t>
            </a:r>
            <a:br>
              <a:rPr lang="pt-BR" dirty="0"/>
            </a:b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38D1954-0539-9FC8-76CD-FA86EF9CB3AA}"/>
              </a:ext>
            </a:extLst>
          </p:cNvPr>
          <p:cNvSpPr txBox="1"/>
          <p:nvPr/>
        </p:nvSpPr>
        <p:spPr>
          <a:xfrm>
            <a:off x="-516203" y="2362077"/>
            <a:ext cx="61150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 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8A94B1E5-559B-879A-7DFA-FA35DDF78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71765" y="3925729"/>
            <a:ext cx="221413" cy="25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020456A5-6FF2-EDD4-8580-5F3C0AFD2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0" y="4456100"/>
            <a:ext cx="2381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1CC73EEE-EC25-D005-005D-166DDBC99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96" y="5021595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6D20F63A-976B-895A-7FB0-12BFE43524C9}"/>
              </a:ext>
            </a:extLst>
          </p:cNvPr>
          <p:cNvSpPr txBox="1"/>
          <p:nvPr/>
        </p:nvSpPr>
        <p:spPr>
          <a:xfrm>
            <a:off x="916331" y="4409643"/>
            <a:ext cx="33528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400" b="1" i="0" u="none" strike="noStrike" dirty="0" err="1">
                <a:solidFill>
                  <a:srgbClr val="F8FAFC"/>
                </a:solidFill>
                <a:effectLst/>
                <a:latin typeface="Inter" panose="020B0604020202020204" charset="0"/>
              </a:rPr>
              <a:t>Polars</a:t>
            </a:r>
            <a:r>
              <a:rPr lang="pt-BR" sz="1400" b="1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:</a:t>
            </a: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 Manipulação </a:t>
            </a:r>
            <a:r>
              <a:rPr lang="pt-BR" sz="1400" b="0" i="0" u="none" strike="noStrike" dirty="0" err="1">
                <a:solidFill>
                  <a:srgbClr val="F8FAFC"/>
                </a:solidFill>
                <a:effectLst/>
                <a:latin typeface="Inter" panose="020B0604020202020204" charset="0"/>
              </a:rPr>
              <a:t>ultra-rápida</a:t>
            </a: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.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80DD699-3CA5-D82D-05DF-94075F4B6A4E}"/>
              </a:ext>
            </a:extLst>
          </p:cNvPr>
          <p:cNvSpPr txBox="1"/>
          <p:nvPr/>
        </p:nvSpPr>
        <p:spPr>
          <a:xfrm>
            <a:off x="887574" y="5000212"/>
            <a:ext cx="28977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400" b="1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PySide6:</a:t>
            </a:r>
            <a:r>
              <a:rPr lang="pt-BR" sz="1400" b="0" i="0" u="none" strike="noStrike" dirty="0">
                <a:solidFill>
                  <a:srgbClr val="F8FAFC"/>
                </a:solidFill>
                <a:effectLst/>
                <a:latin typeface="Inter" panose="020B0604020202020204" charset="0"/>
              </a:rPr>
              <a:t> Interface GUI Premium.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45AF343-DB87-36C8-EAD6-3D2BB2AD5788}"/>
              </a:ext>
            </a:extLst>
          </p:cNvPr>
          <p:cNvSpPr txBox="1"/>
          <p:nvPr/>
        </p:nvSpPr>
        <p:spPr>
          <a:xfrm>
            <a:off x="2948072" y="2205192"/>
            <a:ext cx="853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pt-BR" dirty="0"/>
            </a:br>
            <a:endParaRPr lang="pt-BR" dirty="0"/>
          </a:p>
        </p:txBody>
      </p:sp>
      <p:pic>
        <p:nvPicPr>
          <p:cNvPr id="1048" name="Picture 24">
            <a:extLst>
              <a:ext uri="{FF2B5EF4-FFF2-40B4-BE49-F238E27FC236}">
                <a16:creationId xmlns:a16="http://schemas.microsoft.com/office/drawing/2014/main" id="{AF05FDB7-1D50-9011-FDF1-611F70F2E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11" y="4052404"/>
            <a:ext cx="33337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432" y="3579605"/>
            <a:ext cx="34861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4388" y="3579605"/>
            <a:ext cx="34861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3535756"/>
            <a:ext cx="348615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219345" y="3934927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Escalabilidade</a:t>
            </a:r>
            <a:endParaRPr dirty="0"/>
          </a:p>
        </p:txBody>
      </p:sp>
      <p:sp>
        <p:nvSpPr>
          <p:cNvPr id="208" name="Google Shape;208;p21"/>
          <p:cNvSpPr txBox="1"/>
          <p:nvPr/>
        </p:nvSpPr>
        <p:spPr>
          <a:xfrm>
            <a:off x="923925" y="4345382"/>
            <a:ext cx="2800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Supabase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crescimento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elástico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nuvem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necessidade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gerenciar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infra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física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5005312" y="38223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endParaRPr dirty="0"/>
          </a:p>
        </p:txBody>
      </p:sp>
      <p:sp>
        <p:nvSpPr>
          <p:cNvPr id="210" name="Google Shape;210;p21"/>
          <p:cNvSpPr txBox="1"/>
          <p:nvPr/>
        </p:nvSpPr>
        <p:spPr>
          <a:xfrm>
            <a:off x="4611417" y="4303177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Isolamento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total entre o banco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operacional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(MariaDB) e o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analítico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Supabase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11" name="Google Shape;211;p21"/>
          <p:cNvSpPr txBox="1"/>
          <p:nvPr/>
        </p:nvSpPr>
        <p:spPr>
          <a:xfrm>
            <a:off x="8467725" y="3752044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Manutenibilidade</a:t>
            </a:r>
            <a:endParaRPr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8467725" y="4232834"/>
            <a:ext cx="2800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Módulos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desacoplados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garantem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que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erros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um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ponto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não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derrubem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todo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771525" y="581025"/>
            <a:ext cx="56007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Por que esta Arquitetura?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2;p23">
            <a:extLst>
              <a:ext uri="{FF2B5EF4-FFF2-40B4-BE49-F238E27FC236}">
                <a16:creationId xmlns:a16="http://schemas.microsoft.com/office/drawing/2014/main" id="{2B3FF4A7-60C8-B0DF-C04B-FD3F62CC5FCC}"/>
              </a:ext>
            </a:extLst>
          </p:cNvPr>
          <p:cNvSpPr/>
          <p:nvPr/>
        </p:nvSpPr>
        <p:spPr>
          <a:xfrm>
            <a:off x="557432" y="186573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1;p23">
            <a:extLst>
              <a:ext uri="{FF2B5EF4-FFF2-40B4-BE49-F238E27FC236}">
                <a16:creationId xmlns:a16="http://schemas.microsoft.com/office/drawing/2014/main" id="{6579BC58-6902-A8BD-2C36-71F209686F5C}"/>
              </a:ext>
            </a:extLst>
          </p:cNvPr>
          <p:cNvSpPr txBox="1"/>
          <p:nvPr/>
        </p:nvSpPr>
        <p:spPr>
          <a:xfrm>
            <a:off x="762000" y="186572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BENEFÍCIOS ESTRATÉGICOS</a:t>
            </a:r>
            <a:endParaRPr dirty="0"/>
          </a:p>
        </p:txBody>
      </p:sp>
      <p:pic>
        <p:nvPicPr>
          <p:cNvPr id="4" name="Google Shape;227;p23" descr="image.png">
            <a:extLst>
              <a:ext uri="{FF2B5EF4-FFF2-40B4-BE49-F238E27FC236}">
                <a16:creationId xmlns:a16="http://schemas.microsoft.com/office/drawing/2014/main" id="{C149E8CD-4B53-74AB-944B-93E3BC53CC3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38588" y="386062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8;p23" descr="image.png">
            <a:extLst>
              <a:ext uri="{FF2B5EF4-FFF2-40B4-BE49-F238E27FC236}">
                <a16:creationId xmlns:a16="http://schemas.microsoft.com/office/drawing/2014/main" id="{6D693226-02BC-CC20-CBD5-BD47659DA07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516" y="397697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6;p21" descr="image.png">
            <a:extLst>
              <a:ext uri="{FF2B5EF4-FFF2-40B4-BE49-F238E27FC236}">
                <a16:creationId xmlns:a16="http://schemas.microsoft.com/office/drawing/2014/main" id="{217DCF80-3561-27E7-51A6-72CEDF64E8B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4833" y="933449"/>
            <a:ext cx="348615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1;p21">
            <a:extLst>
              <a:ext uri="{FF2B5EF4-FFF2-40B4-BE49-F238E27FC236}">
                <a16:creationId xmlns:a16="http://schemas.microsoft.com/office/drawing/2014/main" id="{3256644A-C42A-5CCB-50C6-E93491E4AB2C}"/>
              </a:ext>
            </a:extLst>
          </p:cNvPr>
          <p:cNvSpPr txBox="1"/>
          <p:nvPr/>
        </p:nvSpPr>
        <p:spPr>
          <a:xfrm>
            <a:off x="8948923" y="1166932"/>
            <a:ext cx="294036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Automação</a:t>
            </a:r>
            <a:endParaRPr dirty="0"/>
          </a:p>
        </p:txBody>
      </p:sp>
      <p:pic>
        <p:nvPicPr>
          <p:cNvPr id="8" name="Google Shape;230;p23" descr="image.png">
            <a:extLst>
              <a:ext uri="{FF2B5EF4-FFF2-40B4-BE49-F238E27FC236}">
                <a16:creationId xmlns:a16="http://schemas.microsoft.com/office/drawing/2014/main" id="{0A3879DD-2D6A-BA49-6921-993E7F4010A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60938" y="1143730"/>
            <a:ext cx="394078" cy="35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12;p21">
            <a:extLst>
              <a:ext uri="{FF2B5EF4-FFF2-40B4-BE49-F238E27FC236}">
                <a16:creationId xmlns:a16="http://schemas.microsoft.com/office/drawing/2014/main" id="{B6886818-BA5B-C83E-5E56-76E6B8D4D31A}"/>
              </a:ext>
            </a:extLst>
          </p:cNvPr>
          <p:cNvSpPr txBox="1"/>
          <p:nvPr/>
        </p:nvSpPr>
        <p:spPr>
          <a:xfrm>
            <a:off x="8591989" y="1599830"/>
            <a:ext cx="28003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Pipeline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Orquestrado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um click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interface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Grafica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&amp;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Rastreabilidade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total 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desde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 a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extração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ate a carga Final.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8850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638"/>
            <a:ext cx="5238750" cy="58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3144738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processo inicia com a coleta híbrida de dados, garantindo que o ecossistema seja alimentado por fontes diversas e confiáveis.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238375"/>
            <a:ext cx="52197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40138"/>
            <a:ext cx="4857750" cy="2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FLUXO DE EXTRAÇÃO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94798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10x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471987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MAIS VELOZ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81750" y="261461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Uso de Arquivos Parquet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81750" y="30241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conversão de CSV para Parquet permite: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810375" y="351948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Compressão eficiente de disco.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810375" y="407193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Leitura colunar otimizada.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810375" y="462438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Redução de latência no I/O.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5623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11480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66725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OTIMIZAÇÃO DE PERFORMANCE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381750" y="23812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Isolamento de Responsabilidade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81750" y="27908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Desenvolvemos módulos desacoplados para garantir manutenção simplificada: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81750" y="3590925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conecao_supar.py: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Túnel de rede (Porta 6543).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381750" y="4105275"/>
            <a:ext cx="5238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inserir_supabase.py: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Lógica de carga e mapeamento.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381750" y="4895850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funcoes.py: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Padronização de logs e terminal.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MÓDULOS DE CONEXÃO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9"/>
          <p:cNvGraphicFramePr/>
          <p:nvPr/>
        </p:nvGraphicFramePr>
        <p:xfrm>
          <a:off x="571500" y="2481262"/>
          <a:ext cx="11049000" cy="3029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Tabela Origem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Tabela</a:t>
                      </a: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650" b="1" i="0" u="none" strike="noStrike" cap="none" dirty="0" err="1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Destino</a:t>
                      </a: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650" b="1" i="0" u="none" strike="noStrike" cap="none" dirty="0" err="1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Supabase</a:t>
                      </a: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Chave de Transformação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stg_contas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ano_fundacao ➜ ano_estabelecimento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equipes_vendas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stg_vendedores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agente_vendas ➜ vendedor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stg_produtos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preco_venda ➜ preco_minimo_venda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pipeline_vendas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stg_funil_vendas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fase_negociacao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➜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status_negocio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19"/>
          <p:cNvSpPr/>
          <p:nvPr/>
        </p:nvSpPr>
        <p:spPr>
          <a:xfrm>
            <a:off x="571500" y="3695700"/>
            <a:ext cx="2427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999184" y="3695700"/>
            <a:ext cx="4025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024836" y="3695700"/>
            <a:ext cx="4595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1500" y="4295775"/>
            <a:ext cx="2427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999184" y="4295775"/>
            <a:ext cx="4025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024836" y="4295775"/>
            <a:ext cx="4595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71500" y="4895850"/>
            <a:ext cx="2427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999184" y="4895850"/>
            <a:ext cx="4025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024836" y="4895850"/>
            <a:ext cx="4595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5495925"/>
            <a:ext cx="2427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999184" y="5495925"/>
            <a:ext cx="4025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024836" y="5495925"/>
            <a:ext cx="4595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MAPEAMENTO: MARIADB ➜ STG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77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84390" y="1465944"/>
            <a:ext cx="7196728" cy="5021942"/>
          </a:xfrm>
          <a:prstGeom prst="rect">
            <a:avLst/>
          </a:prstGeom>
          <a:noFill/>
          <a:ln>
            <a:noFill/>
          </a:ln>
          <a:effectLst>
            <a:glow rad="495300">
              <a:srgbClr val="00D5FF">
                <a:alpha val="19000"/>
              </a:srgbClr>
            </a:glow>
            <a:softEdge rad="0"/>
          </a:effectLst>
        </p:spPr>
      </p:pic>
      <p:sp>
        <p:nvSpPr>
          <p:cNvPr id="142" name="Google Shape;142;p18"/>
          <p:cNvSpPr txBox="1"/>
          <p:nvPr/>
        </p:nvSpPr>
        <p:spPr>
          <a:xfrm>
            <a:off x="7727643" y="2010818"/>
            <a:ext cx="5540692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A </a:t>
            </a:r>
            <a:r>
              <a:rPr lang="en-US" sz="2400" b="1" i="0" u="none" strike="noStrike" cap="none" dirty="0" err="1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Refinaria</a:t>
            </a:r>
            <a:r>
              <a:rPr lang="en-US" sz="2400" b="1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 b="1" i="0" u="none" strike="noStrike" cap="none" dirty="0" err="1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Automática</a:t>
            </a:r>
            <a:endParaRPr dirty="0"/>
          </a:p>
        </p:txBody>
      </p:sp>
      <p:sp>
        <p:nvSpPr>
          <p:cNvPr id="143" name="Google Shape;143;p18"/>
          <p:cNvSpPr txBox="1"/>
          <p:nvPr/>
        </p:nvSpPr>
        <p:spPr>
          <a:xfrm>
            <a:off x="7572375" y="2684313"/>
            <a:ext cx="666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44" name="Google Shape;144;p18"/>
          <p:cNvSpPr txBox="1"/>
          <p:nvPr/>
        </p:nvSpPr>
        <p:spPr>
          <a:xfrm>
            <a:off x="7730306" y="2591263"/>
            <a:ext cx="5086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Extração</a:t>
            </a:r>
            <a:r>
              <a:rPr lang="en-US" sz="1650" b="1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Conexão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direta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via API.</a:t>
            </a:r>
            <a:endParaRPr dirty="0"/>
          </a:p>
        </p:txBody>
      </p:sp>
      <p:sp>
        <p:nvSpPr>
          <p:cNvPr id="145" name="Google Shape;145;p18"/>
          <p:cNvSpPr txBox="1"/>
          <p:nvPr/>
        </p:nvSpPr>
        <p:spPr>
          <a:xfrm>
            <a:off x="7577153" y="3943202"/>
            <a:ext cx="666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7727643" y="3254982"/>
            <a:ext cx="5086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Tratamento</a:t>
            </a:r>
            <a:r>
              <a:rPr lang="en-US" sz="1650" b="1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Tradução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e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limpeza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via Polars.</a:t>
            </a:r>
            <a:endParaRPr dirty="0"/>
          </a:p>
        </p:txBody>
      </p:sp>
      <p:sp>
        <p:nvSpPr>
          <p:cNvPr id="147" name="Google Shape;147;p18"/>
          <p:cNvSpPr txBox="1"/>
          <p:nvPr/>
        </p:nvSpPr>
        <p:spPr>
          <a:xfrm>
            <a:off x="7586682" y="3366927"/>
            <a:ext cx="666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48" name="Google Shape;148;p18"/>
          <p:cNvSpPr txBox="1"/>
          <p:nvPr/>
        </p:nvSpPr>
        <p:spPr>
          <a:xfrm>
            <a:off x="7727643" y="3813795"/>
            <a:ext cx="5086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Carga: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Inserção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5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otimizada</a:t>
            </a:r>
            <a:r>
              <a:rPr lang="en-US" sz="165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no MySQL.</a:t>
            </a:r>
            <a:endParaRPr dirty="0"/>
          </a:p>
        </p:txBody>
      </p:sp>
      <p:sp>
        <p:nvSpPr>
          <p:cNvPr id="149" name="Google Shape;149;p18"/>
          <p:cNvSpPr txBox="1"/>
          <p:nvPr/>
        </p:nvSpPr>
        <p:spPr>
          <a:xfrm>
            <a:off x="921549" y="481527"/>
            <a:ext cx="1158144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Jornada do Dado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4"/>
          <a:srcRect/>
          <a:stretch/>
        </p:blipFill>
        <p:spPr>
          <a:xfrm>
            <a:off x="6205611" y="3190662"/>
            <a:ext cx="5800578" cy="32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71500" y="2247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Interface desenvolvida com foco na experiência do desenvolvedor e gestor de dados.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028700" y="3143250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Paleta Futurista.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066800" y="3695700"/>
            <a:ext cx="4457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Terminal Visual Integrado.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028700" y="4248150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Processamento em Background.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861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385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910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762000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FRONTEND PREMIUM DARK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2BA895-E9CE-3965-B525-DC06986F41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611" y="119658"/>
            <a:ext cx="5800578" cy="299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291747"/>
            <a:ext cx="12192000" cy="627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696" y="1184448"/>
            <a:ext cx="5164818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771980" y="2196554"/>
            <a:ext cx="3048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D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 </a:t>
            </a:r>
            <a:r>
              <a:rPr lang="en-US" sz="1200" b="0" i="0" u="none" strike="noStrike" cap="none" dirty="0" err="1">
                <a:solidFill>
                  <a:srgbClr val="00D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finalizado</a:t>
            </a:r>
            <a:r>
              <a:rPr lang="en-US" sz="1200" b="0" i="0" u="none" strike="noStrike" cap="none" dirty="0">
                <a:solidFill>
                  <a:srgbClr val="00D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com </a:t>
            </a:r>
            <a:r>
              <a:rPr lang="en-US" sz="1200" b="0" i="0" u="none" strike="noStrike" cap="none" dirty="0" err="1">
                <a:solidFill>
                  <a:srgbClr val="00D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sucesso</a:t>
            </a:r>
            <a:r>
              <a:rPr lang="en-US" sz="1200" b="0" i="0" u="none" strike="noStrike" cap="none" dirty="0">
                <a:solidFill>
                  <a:srgbClr val="00D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endParaRPr dirty="0"/>
          </a:p>
        </p:txBody>
      </p:sp>
      <p:sp>
        <p:nvSpPr>
          <p:cNvPr id="157" name="Google Shape;157;p19"/>
          <p:cNvSpPr txBox="1"/>
          <p:nvPr/>
        </p:nvSpPr>
        <p:spPr>
          <a:xfrm>
            <a:off x="6885622" y="1884536"/>
            <a:ext cx="52768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21.55s</a:t>
            </a:r>
            <a:endParaRPr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6915150" y="3542407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TEMPO TOTAL DE PROCESSAMENTO</a:t>
            </a:r>
            <a:endParaRPr dirty="0"/>
          </a:p>
        </p:txBody>
      </p:sp>
      <p:sp>
        <p:nvSpPr>
          <p:cNvPr id="159" name="Google Shape;159;p19"/>
          <p:cNvSpPr txBox="1"/>
          <p:nvPr/>
        </p:nvSpPr>
        <p:spPr>
          <a:xfrm>
            <a:off x="3777744" y="9674"/>
            <a:ext cx="1158144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Velocidade</a:t>
            </a:r>
            <a:r>
              <a:rPr lang="en-US" sz="3600" b="0" i="0" u="none" strike="noStrike" cap="none" dirty="0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de </a:t>
            </a:r>
            <a:r>
              <a:rPr lang="en-US" sz="3600" b="0" i="0" u="none" strike="noStrike" cap="none" dirty="0" err="1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Processamento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3345"/>
            <a:ext cx="12192000" cy="6851309"/>
          </a:xfrm>
          <a:prstGeom prst="rect">
            <a:avLst/>
          </a:prstGeom>
          <a:noFill/>
          <a:ln>
            <a:noFill/>
          </a:ln>
          <a:effectLst>
            <a:glow rad="508000">
              <a:schemeClr val="accent1">
                <a:alpha val="26000"/>
              </a:schemeClr>
            </a:glow>
          </a:effectLst>
        </p:spPr>
      </p:pic>
      <p:sp>
        <p:nvSpPr>
          <p:cNvPr id="166" name="Google Shape;166;p20"/>
          <p:cNvSpPr txBox="1"/>
          <p:nvPr/>
        </p:nvSpPr>
        <p:spPr>
          <a:xfrm>
            <a:off x="143057" y="2648456"/>
            <a:ext cx="5000625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B0F0"/>
                </a:solidFill>
                <a:latin typeface="Outfit"/>
                <a:ea typeface="Outfit"/>
                <a:cs typeface="Outfit"/>
                <a:sym typeface="Outfit"/>
              </a:rPr>
              <a:t>Visão</a:t>
            </a:r>
            <a:r>
              <a:rPr lang="en-US" sz="4500" b="1" i="0" u="none" strike="noStrike" cap="none" dirty="0">
                <a:solidFill>
                  <a:srgbClr val="00B0F0"/>
                </a:solidFill>
                <a:latin typeface="Outfit"/>
                <a:ea typeface="Outfit"/>
                <a:cs typeface="Outfit"/>
                <a:sym typeface="Outfit"/>
              </a:rPr>
              <a:t> 360º do </a:t>
            </a:r>
            <a:r>
              <a:rPr lang="en-US" sz="4500" b="1" i="0" u="none" strike="noStrike" cap="none" dirty="0" err="1">
                <a:solidFill>
                  <a:srgbClr val="00B0F0"/>
                </a:solidFill>
                <a:latin typeface="Outfit"/>
                <a:ea typeface="Outfit"/>
                <a:cs typeface="Outfit"/>
                <a:sym typeface="Outfit"/>
              </a:rPr>
              <a:t>Negócio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43057" y="4439236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Dashboards </a:t>
            </a:r>
            <a:r>
              <a:rPr lang="en-US" sz="1800" b="1" i="0" u="none" strike="noStrike" cap="none" dirty="0" err="1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Intuitivos</a:t>
            </a:r>
            <a:r>
              <a:rPr lang="en-US" sz="1800" b="1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 e </a:t>
            </a:r>
            <a:r>
              <a:rPr lang="en-US" sz="1800" b="1" i="0" u="none" strike="noStrike" cap="none" dirty="0" err="1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Dinâmicos</a:t>
            </a:r>
            <a:r>
              <a:rPr lang="en-US" sz="1800" b="1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99283"/>
            <a:ext cx="52768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99283"/>
            <a:ext cx="52768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923925" y="2942183"/>
            <a:ext cx="45910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TAXA DE CONVERSÃO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923925" y="3227933"/>
            <a:ext cx="45910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63.1%</a:t>
            </a:r>
            <a:endParaRPr dirty="0"/>
          </a:p>
        </p:txBody>
      </p:sp>
      <p:sp>
        <p:nvSpPr>
          <p:cNvPr id="177" name="Google Shape;177;p21"/>
          <p:cNvSpPr txBox="1"/>
          <p:nvPr/>
        </p:nvSpPr>
        <p:spPr>
          <a:xfrm>
            <a:off x="923925" y="4370933"/>
            <a:ext cx="45910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Oportunidades que viraram lucro.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677025" y="2942183"/>
            <a:ext cx="45910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FATURAMENTO TOTAL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677025" y="3227933"/>
            <a:ext cx="45910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$ 6.4M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677025" y="4370933"/>
            <a:ext cx="45910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Volume total de negócios ganhos.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81025" y="581025"/>
            <a:ext cx="1158144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Métricas de Sucesso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8825" y="2661195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6334125" y="3103215"/>
            <a:ext cx="5540692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8A00"/>
                </a:solidFill>
                <a:latin typeface="Outfit"/>
                <a:ea typeface="Outfit"/>
                <a:cs typeface="Outfit"/>
                <a:sym typeface="Outfit"/>
              </a:rPr>
              <a:t>Relatórios Executivos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6334125" y="3581251"/>
            <a:ext cx="5276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Geração automática de PDFs profissionais em um clique. Pronto para reuniões de diretoria, com gráficos de alta fidelidade e KPIs consolidados.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581025" y="581025"/>
            <a:ext cx="1158144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D4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 Gran Finale: Relatórios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81025" y="199072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Evolução da Inteligência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638175" y="2411773"/>
            <a:ext cx="52292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Refinamento</a:t>
            </a:r>
            <a:r>
              <a:rPr lang="en-US" sz="140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das </a:t>
            </a:r>
            <a:r>
              <a:rPr lang="en-US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Regras</a:t>
            </a:r>
            <a:r>
              <a:rPr lang="en-US" sz="140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Negócio</a:t>
            </a:r>
            <a:endParaRPr dirty="0"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00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2450" y="288361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3163" y="326373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771525" y="581025"/>
            <a:ext cx="44005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Jornada Continua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4;p23">
            <a:extLst>
              <a:ext uri="{FF2B5EF4-FFF2-40B4-BE49-F238E27FC236}">
                <a16:creationId xmlns:a16="http://schemas.microsoft.com/office/drawing/2014/main" id="{3E9A1CFD-9E64-3A82-AF7B-66E302D8B2B4}"/>
              </a:ext>
            </a:extLst>
          </p:cNvPr>
          <p:cNvSpPr txBox="1"/>
          <p:nvPr/>
        </p:nvSpPr>
        <p:spPr>
          <a:xfrm>
            <a:off x="651510" y="2777072"/>
            <a:ext cx="52292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Implementação</a:t>
            </a:r>
            <a:r>
              <a:rPr lang="en-US" sz="140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do </a:t>
            </a:r>
            <a:r>
              <a:rPr lang="en-US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Funil</a:t>
            </a:r>
            <a:r>
              <a:rPr lang="en-US" sz="140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lang="en-US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Vendas</a:t>
            </a:r>
            <a:r>
              <a:rPr lang="en-US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Detalhado</a:t>
            </a:r>
            <a:endParaRPr dirty="0"/>
          </a:p>
        </p:txBody>
      </p:sp>
      <p:sp>
        <p:nvSpPr>
          <p:cNvPr id="3" name="Google Shape;234;p23">
            <a:extLst>
              <a:ext uri="{FF2B5EF4-FFF2-40B4-BE49-F238E27FC236}">
                <a16:creationId xmlns:a16="http://schemas.microsoft.com/office/drawing/2014/main" id="{7DC9F291-35A2-8D38-BB5E-7211F380DDDD}"/>
              </a:ext>
            </a:extLst>
          </p:cNvPr>
          <p:cNvSpPr txBox="1"/>
          <p:nvPr/>
        </p:nvSpPr>
        <p:spPr>
          <a:xfrm>
            <a:off x="666035" y="3155303"/>
            <a:ext cx="52292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Análise Preditiva de </a:t>
            </a:r>
            <a:r>
              <a:rPr lang="pt-BR" sz="1400" b="0" i="0" u="none" strike="noStrike" cap="none" dirty="0" err="1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Churn</a:t>
            </a:r>
            <a:r>
              <a:rPr lang="pt-BR" sz="1400" b="0" i="0" u="none" strike="noStrike" cap="none" dirty="0">
                <a:solidFill>
                  <a:srgbClr val="A1A1A1"/>
                </a:solidFill>
                <a:latin typeface="Outfit"/>
                <a:ea typeface="Outfit"/>
                <a:cs typeface="Outfit"/>
                <a:sym typeface="Outfit"/>
              </a:rPr>
              <a:t> e Tendências.</a:t>
            </a:r>
            <a:endParaRPr lang="pt-BR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9700" y="-101601"/>
            <a:ext cx="12561472" cy="710731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305276" y="1562100"/>
            <a:ext cx="1158144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81025" y="2514600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Acesse o projeto completo no GitHub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184900" y="4599330"/>
            <a:ext cx="336867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https://github.com/PollyAzeve/-Projeto-Integrador---ETL-e-An-lise-de-Dados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3609536"/>
            <a:ext cx="457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3238500" y="4162425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Backend/ETL</a:t>
            </a:r>
            <a:endParaRPr dirty="0"/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6650" y="3609536"/>
            <a:ext cx="457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477000" y="415290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Analytics/BI</a:t>
            </a:r>
            <a:endParaRPr/>
          </a:p>
        </p:txBody>
      </p:sp>
      <p:sp>
        <p:nvSpPr>
          <p:cNvPr id="2" name="Google Shape;249;p24">
            <a:extLst>
              <a:ext uri="{FF2B5EF4-FFF2-40B4-BE49-F238E27FC236}">
                <a16:creationId xmlns:a16="http://schemas.microsoft.com/office/drawing/2014/main" id="{DDA0A826-46D7-93CD-3FEF-55D8F0CEEEDD}"/>
              </a:ext>
            </a:extLst>
          </p:cNvPr>
          <p:cNvSpPr txBox="1"/>
          <p:nvPr/>
        </p:nvSpPr>
        <p:spPr>
          <a:xfrm>
            <a:off x="2727326" y="4608855"/>
            <a:ext cx="336867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cap="none" dirty="0">
                <a:solidFill>
                  <a:srgbClr val="00D4FF"/>
                </a:solidFill>
                <a:latin typeface="Outfit"/>
                <a:ea typeface="Outfit"/>
                <a:cs typeface="Outfit"/>
                <a:sym typeface="Outfit"/>
              </a:rPr>
              <a:t>https://github.com/emerson-jose/projeto-integrador-etl 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249;p24">
            <a:extLst>
              <a:ext uri="{FF2B5EF4-FFF2-40B4-BE49-F238E27FC236}">
                <a16:creationId xmlns:a16="http://schemas.microsoft.com/office/drawing/2014/main" id="{D9C19F00-756C-33F0-D01D-D50E1FB8FCA1}"/>
              </a:ext>
            </a:extLst>
          </p:cNvPr>
          <p:cNvSpPr txBox="1"/>
          <p:nvPr/>
        </p:nvSpPr>
        <p:spPr>
          <a:xfrm>
            <a:off x="305276" y="5443756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Obrigado</a:t>
            </a:r>
            <a:r>
              <a:rPr lang="en-US" sz="1500" b="0" i="0" u="none" strike="noStrike" cap="none" dirty="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 pela </a:t>
            </a:r>
            <a:r>
              <a:rPr lang="en-US" sz="1500" b="0" i="0" u="none" strike="noStrike" cap="none" dirty="0" err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atenção</a:t>
            </a:r>
            <a:r>
              <a:rPr lang="en-US" sz="1500" b="0" i="0" u="none" strike="noStrike" cap="none" dirty="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dirty="0"/>
          </a:p>
        </p:txBody>
      </p:sp>
      <p:pic>
        <p:nvPicPr>
          <p:cNvPr id="4" name="Google Shape;213;p24" descr="image.png">
            <a:extLst>
              <a:ext uri="{FF2B5EF4-FFF2-40B4-BE49-F238E27FC236}">
                <a16:creationId xmlns:a16="http://schemas.microsoft.com/office/drawing/2014/main" id="{9D3A278E-1D5E-74B4-3499-094CC57C3E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3066" y="4724919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3;p24" descr="image.png">
            <a:extLst>
              <a:ext uri="{FF2B5EF4-FFF2-40B4-BE49-F238E27FC236}">
                <a16:creationId xmlns:a16="http://schemas.microsoft.com/office/drawing/2014/main" id="{8C0C5BB1-64EF-5086-E84F-40FB5009E34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30266" y="4737619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732" y="-25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581025" y="271834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81025" y="348987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81025" y="34803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81025" y="34803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81025" y="42518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81025" y="42518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1958975" y="2684554"/>
            <a:ext cx="99345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bg1"/>
                </a:solidFill>
              </a:rPr>
              <a:t>https://github.com/emerson-jose/projeto-integrador-etl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2009775" y="3660442"/>
            <a:ext cx="99345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bg1"/>
                </a:solidFill>
              </a:rPr>
              <a:t>https://github.com/PollyAzeve/-Projeto-Integrador---ETL-e-An-lise-de-Dados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>
          <a:blip r:embed="rId4"/>
          <a:srcRect/>
          <a:stretch/>
        </p:blipFill>
        <p:spPr>
          <a:xfrm>
            <a:off x="882717" y="2578635"/>
            <a:ext cx="704783" cy="6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898650" y="4404270"/>
            <a:ext cx="99345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bg1"/>
                </a:solidFill>
                <a:latin typeface="Outfit"/>
                <a:ea typeface="Outfit"/>
                <a:cs typeface="Outfit"/>
                <a:sym typeface="Outfit"/>
              </a:rPr>
              <a:t>. https://mavenanalytics.io/data-playground/crm-sales-opportunities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581025" y="581025"/>
            <a:ext cx="1158144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D4FF"/>
                </a:solidFill>
                <a:latin typeface="Outfit SemiBold"/>
                <a:sym typeface="Outfit SemiBold"/>
              </a:rPr>
              <a:t>Links </a:t>
            </a:r>
            <a:endParaRPr dirty="0"/>
          </a:p>
        </p:txBody>
      </p:sp>
      <p:pic>
        <p:nvPicPr>
          <p:cNvPr id="2" name="Google Shape;231;p25">
            <a:extLst>
              <a:ext uri="{FF2B5EF4-FFF2-40B4-BE49-F238E27FC236}">
                <a16:creationId xmlns:a16="http://schemas.microsoft.com/office/drawing/2014/main" id="{86CC8C6C-B48F-A006-2A4A-A00136CD5BB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889661" y="3570560"/>
            <a:ext cx="697839" cy="538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3;p17" descr="image.png">
            <a:extLst>
              <a:ext uri="{FF2B5EF4-FFF2-40B4-BE49-F238E27FC236}">
                <a16:creationId xmlns:a16="http://schemas.microsoft.com/office/drawing/2014/main" id="{8A1D460C-271F-6182-4DB0-30C865BA92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3100" y="4433540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674</Words>
  <Application>Microsoft Office PowerPoint</Application>
  <PresentationFormat>Widescreen</PresentationFormat>
  <Paragraphs>122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1" baseType="lpstr">
      <vt:lpstr>Outfit</vt:lpstr>
      <vt:lpstr>Outfit SemiBold</vt:lpstr>
      <vt:lpstr>Calibri</vt:lpstr>
      <vt:lpstr>Urbanist</vt:lpstr>
      <vt:lpstr>Inter</vt:lpstr>
      <vt:lpstr>Inter Medium</vt:lpstr>
      <vt:lpstr>Outfit Light</vt:lpstr>
      <vt:lpstr>JetBrains Mono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</cp:lastModifiedBy>
  <cp:revision>17</cp:revision>
  <dcterms:modified xsi:type="dcterms:W3CDTF">2026-06-01T22:31:27Z</dcterms:modified>
</cp:coreProperties>
</file>